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9E440E4-774E-C865-8171-FEB9E36CBE02}">
          <p14:sldIdLst>
            <p14:sldId id="256"/>
            <p14:sldId id="257"/>
          </p14:sldIdLst>
        </p14:section>
        <p14:section name="Plan and team" id="{E988E85B-C2A1-FF5B-8DEA-6E4367DA512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dget" id="{48DDBF5A-1BAE-0584-E85D-A29115F25B7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Business and growth" id="{18C37434-EC17-63BC-E93D-BB85928C8D0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e" id="{F36BACC0-D41E-2BDF-DE47-33A37A754086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5-9A42-8B30-1919CB8BA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10</c:v>
                </c:pt>
                <c:pt idx="3">
                  <c:v>19</c:v>
                </c:pt>
                <c:pt idx="4">
                  <c:v>30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5-9A42-8B30-1919CB8BA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3-604B-8915-EBCE306FF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10</c:v>
                </c:pt>
                <c:pt idx="3">
                  <c:v>19</c:v>
                </c:pt>
                <c:pt idx="4">
                  <c:v>30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3-604B-8915-EBCE306FFD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</c:v>
                </c:pt>
                <c:pt idx="1">
                  <c:v>4400</c:v>
                </c:pt>
                <c:pt idx="2">
                  <c:v>4400</c:v>
                </c:pt>
                <c:pt idx="3">
                  <c:v>4400</c:v>
                </c:pt>
                <c:pt idx="4">
                  <c:v>4400</c:v>
                </c:pt>
                <c:pt idx="5">
                  <c:v>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6-6C4E-A1A5-4E4406E85D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7500</c:v>
                </c:pt>
                <c:pt idx="1">
                  <c:v>7500</c:v>
                </c:pt>
                <c:pt idx="2">
                  <c:v>27631</c:v>
                </c:pt>
                <c:pt idx="3">
                  <c:v>49462</c:v>
                </c:pt>
                <c:pt idx="4">
                  <c:v>76593</c:v>
                </c:pt>
                <c:pt idx="5">
                  <c:v>95093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6-6C4E-A1A5-4E4406E85D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operating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17800</c:v>
                </c:pt>
                <c:pt idx="1">
                  <c:v>4850</c:v>
                </c:pt>
                <c:pt idx="2">
                  <c:v>12721</c:v>
                </c:pt>
                <c:pt idx="3">
                  <c:v>19018</c:v>
                </c:pt>
                <c:pt idx="4">
                  <c:v>30412</c:v>
                </c:pt>
                <c:pt idx="5">
                  <c:v>40648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66-6C4E-A1A5-4E4406E85D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2970</c:v>
                </c:pt>
                <c:pt idx="1">
                  <c:v>1675</c:v>
                </c:pt>
                <c:pt idx="2">
                  <c:v>4475</c:v>
                </c:pt>
                <c:pt idx="3">
                  <c:v>7288</c:v>
                </c:pt>
                <c:pt idx="4">
                  <c:v>11140</c:v>
                </c:pt>
                <c:pt idx="5">
                  <c:v>14014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66-6C4E-A1A5-4E4406E85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415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F172A"/>
                </a:solidFill>
                <a:latin typeface="+mn-lt"/>
              </a:rPr>
              <a:t>Active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Beta</c:v>
                </c:pt>
                <c:pt idx="1">
                  <c:v>Month 12</c:v>
                </c:pt>
                <c:pt idx="2">
                  <c:v>Year 1</c:v>
                </c:pt>
                <c:pt idx="3">
                  <c:v>Year 2</c:v>
                </c:pt>
                <c:pt idx="4">
                  <c:v>Year 3</c:v>
                </c:pt>
                <c:pt idx="5">
                  <c:v>Year 4</c:v>
                </c:pt>
                <c:pt idx="6">
                  <c:v>Year 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</c:v>
                </c:pt>
                <c:pt idx="1">
                  <c:v>12530</c:v>
                </c:pt>
                <c:pt idx="2">
                  <c:v>27990</c:v>
                </c:pt>
                <c:pt idx="3">
                  <c:v>67890</c:v>
                </c:pt>
                <c:pt idx="4">
                  <c:v>115870</c:v>
                </c:pt>
                <c:pt idx="5">
                  <c:v>162550</c:v>
                </c:pt>
                <c:pt idx="6">
                  <c:v>202900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8E-EF4C-965D-1B2C2F94AE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rgbClr val="FD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bg>
      <p:bgPr>
        <a:solidFill>
          <a:srgbClr val="E05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PathaSathi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6-month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launch plan</a:t>
            </a: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2D3C8"/>
                </a:solidFill>
              </a:rPr>
              <a:t>A 5-person tech team in Dhaka, a staged business and operations team in New York, and the monthly cost of 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76036" y="15469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D3C8"/>
                </a:solidFill>
              </a:rPr>
              <a:t>Team size by month: 6 people at kickoff, 40 by Month 6</a:t>
            </a:r>
            <a:endParaRPr lang="en-US" sz="1400" dirty="0"/>
          </a:p>
        </p:txBody>
      </p:sp>
      <p:graphicFrame>
        <p:nvGraphicFramePr>
          <p:cNvPr id="6" name="Team size chart"/>
          <p:cNvGraphicFramePr/>
          <p:nvPr/>
        </p:nvGraphicFramePr>
        <p:xfrm>
          <a:off x="6766560" y="278892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Budget card"/>
          <p:cNvSpPr/>
          <p:nvPr/>
        </p:nvSpPr>
        <p:spPr>
          <a:xfrm>
            <a:off x="822960" y="1828800"/>
            <a:ext cx="4069080" cy="3172968"/>
          </a:xfrm>
          <a:prstGeom prst="roundRect">
            <a:avLst>
              <a:gd name="adj" fmla="val 23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SIX-MONTH BUDGET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$457.2K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DDD5"/>
                </a:solidFill>
              </a:rPr>
              <a:t>All-in, including 10% contingency. Average $76.2K per month, peaking at $154.2K in Month 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people in the Dhaka tech team, Project Manager included, fixed for all six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5048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85048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613648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New York hires by Month 6: 14 business and ops staff, 21 part-time service data associates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502152"/>
            <a:ext cx="6254496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0640" y="3749040"/>
            <a:ext cx="6254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$156K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89120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monthly run-rate from Month 7 with a team of 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6144999" cy="749808"/>
          </a:xfrm>
          <a:prstGeom prst="roundRect">
            <a:avLst>
              <a:gd name="adj" fmla="val 9756"/>
            </a:avLst>
          </a:prstGeom>
          <a:solidFill>
            <a:srgbClr val="FEE7DF"/>
          </a:solidFill>
          <a:ln w="9525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78992" y="5257800"/>
            <a:ext cx="57500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Pilot target  </a:t>
            </a:r>
            <a:r>
              <a:rPr lang="en-US" sz="1600" dirty="0">
                <a:solidFill>
                  <a:schemeClr val="tx1"/>
                </a:solidFill>
              </a:rPr>
              <a:t>150–200 merchants serving 1,500–2,000 customers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Operating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Dhaka: tech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Project management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Backend development :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Frontend and mobile app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QA, DevOps and cloud :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5 people : $26,400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6248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30568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New York: business and ops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Leadership : General Manager, Operations Manager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Finance : Finance and Compliance (part-time)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Growth : Marketing Manager, 3 Sales Executives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Merchant success : onboarding, support, field officers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 data : 21 associates, one per service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Advisory : US legal and fintech retainer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35 people : $263,779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0568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24728" y="3474720"/>
            <a:ext cx="54864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24728" y="3931920"/>
            <a:ext cx="548640" cy="292608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Build roadmap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820156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31152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2148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53144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6414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224028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  Discovery, DB schema and UX spec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26334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  Multi-tenant backend and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02666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   Core engine: directory, map,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341985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  Marketplace: catalogue, cart, checkout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13048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" y="381304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  Stripe payments, maps and courier APIs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60120" y="420624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   AI assistant, notifications, marketing 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599432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59943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  QA and beta: 150–200 merchants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992624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0120" y="499262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  Launch: onboard 1,500–2,000 customers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709160" y="228600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78311" y="267919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78311" y="267919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47462" y="3072384"/>
            <a:ext cx="1025535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47462" y="3072384"/>
            <a:ext cx="1025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wks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72997" y="3465576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72997" y="3465576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2148" y="3858768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042148" y="3858768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11299" y="425196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811299" y="425196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495844" y="464515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495844" y="464515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 wks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862369" y="5038344"/>
            <a:ext cx="512767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862369" y="5038344"/>
            <a:ext cx="51276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wks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Staged hiring gates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Kickoff · Day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Funding in place and US company (Delaware C-corp, NY registration) set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1 hires. Dhaka: the full team of 5. New York: General Manager.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532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G1 · end of M1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 done: database schema and UX spec signed off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53288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General Manager builds the merchant, partner and community pipeline.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2369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G2 · end of M2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369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Multi-tenant backend and auth demoed end to 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369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3 hires. Operations Manager, Finance (part-time), 7 data associates.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G3 · end of M3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94106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Directory, map and marketplace working in staging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4106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4 hires. Marketing Manager, first Sales Executive, 7 data associates.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645152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584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G4 · end of M4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645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Stripe, maps and courier sandboxes passing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515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5 hires. 2 support agents, 1 onboarding, 2nd Sales Executive, 7 data associates.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34924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0584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G5 · end of M5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349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Beta live: 150–200 merchants, 1,500–2,000 customers, 21 directories filled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4924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6 hires. 3rd Sales Executive, 2nd onboarding,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Headcount by month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47472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828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Total people at the end of each bar · who joins, at far right</a:t>
            </a:r>
            <a:endParaRPr lang="en-US" sz="1400" dirty="0"/>
          </a:p>
        </p:txBody>
      </p:sp>
      <p:graphicFrame>
        <p:nvGraphicFramePr>
          <p:cNvPr id="8" name="Headcount chart"/>
          <p:cNvGraphicFramePr/>
          <p:nvPr/>
        </p:nvGraphicFramePr>
        <p:xfrm>
          <a:off x="1874520" y="2286000"/>
          <a:ext cx="2743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286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Dhaka </a:t>
            </a:r>
            <a:r>
              <a:rPr lang="en-US" sz="1400" dirty="0">
                <a:solidFill>
                  <a:schemeClr val="tx1"/>
                </a:solidFill>
              </a:rPr>
              <a:t>Full team of 5.  </a:t>
            </a: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General Manager.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803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Dhaka stays at 5.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15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474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Operations Manager, Finance (part-time), 7 data associates.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690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069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Marketing Manager, first Sales Executive, 7 data associates.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4663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4663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2 support agents, 1 onboarding, 2nd Sales Executive, 7 data associates.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257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6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40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3rd Sales Executive, 2nd onboarding,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5 people by function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20112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BDT/m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Person-months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people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salary cost by function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30428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tech salaries (US$)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822192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basis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Manager (USA)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and Community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and Training Specialist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Associate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$20/hr × 20 hrs/wk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1,733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headcount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team: monthly cost by role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822192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Manager (USA)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and Community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and Training Specialist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Associate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109,179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New York team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263,779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Service data 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in the app, one Service Data Associate each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$1,733 per month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part-time: $20/hour × 20 hours a week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$109,179 in six months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63 person-months, full-time from Year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0624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Joins Month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Essentials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Housing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Hospitals and clinics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Pharmacy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Embassy and consulate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65392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748272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Joins Month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Daily life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Halal food and restaurants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Grocery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Education and ESL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Religion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medicine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07424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90304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9030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Joins Month 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Marketplace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Money exchange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 and flights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Cars and auto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Electronics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Furniture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Gas and EV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Sports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Other operating costs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53826"/>
              </p:ext>
            </p:extLst>
          </p:nvPr>
        </p:nvGraphicFramePr>
        <p:xfrm>
          <a:off x="822960" y="1828800"/>
          <a:ext cx="10552176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and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merchants: $300 in M1 to $2,500 in M6 (hosting, maps, 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tools: AI, design,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$300/mo: AI tools $120, Figma $45, BrowserStack $50, GitHub/Jira/Slack $85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collection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 per data associate per month: Airtable, forms, VoIP calling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 per person per month: desk and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 co-working (Queens)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 per desk per month for full- and part-time office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Go-to-market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Ads, SMS, merchant demos and community events from M4: $1,500 to $6,500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and fintech advisory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$2,000/mo US counsel retainer plus $5,000 company set-up in 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insurance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liability and cyber cover, $400 per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transit (OMNY)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 per month for data associates, sales, onboarding and field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Computers and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MacBooks, 7 laptops, 28 tablets, 5 printers, 2 phones, 3 headsets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Dhaka–New York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trips at $3,000: discovery in M1 and launch in M6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payroll taxes (10%)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FICA, unemployment insurance and workers' comp on US wages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stipend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 per month for each full-time US employee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125,449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Computers and devices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computers: 3 MacBook Air in Dhaka, 7 office laptops in New York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US$1,032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per computer: MacBook Air US$1,341, New York laptop US$899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US$17,157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devices, one-time, bought only when each person joins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52176" cy="24871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MacBook Air M3 (16GB, 1TB)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developers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test phone (Galaxy A06)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QA testing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laptop (i5, 16GB, 512GB)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managers,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M1, M3–M6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tablet (Galaxy Tab A9+)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associates, sales, 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 receipt printer (58mm)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demo kits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headset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Monthly spend and cumulative budget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4380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graphicFrame>
        <p:nvGraphicFramePr>
          <p:cNvPr id="11" name="Monthly spend chart"/>
          <p:cNvGraphicFramePr/>
          <p:nvPr/>
        </p:nvGraphicFramePr>
        <p:xfrm>
          <a:off x="1874520" y="2331720"/>
          <a:ext cx="5394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22960" y="2331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1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331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$32.7K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331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$32.7K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903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903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$18.4K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2903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$51.1K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474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474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$49.2K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3474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$100.3K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046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4046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$80.2K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4046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$180.5K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617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4617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$122.5K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617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$303.0K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189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6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5189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$154.2K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5189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$457.2K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money goes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609325" cy="6035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60932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5.8%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32285" y="1828800"/>
            <a:ext cx="6088152" cy="6035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32285" y="1828800"/>
            <a:ext cx="60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57.7%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20438" y="1828800"/>
            <a:ext cx="2895426" cy="6035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520438" y="1828800"/>
            <a:ext cx="2895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27.4%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5864" y="1828800"/>
            <a:ext cx="959272" cy="6035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415864" y="1828800"/>
            <a:ext cx="95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9.1%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Dhaka tech salaries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$26,400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people × 6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9584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986784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$263,779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96 person-months: 33 staff, 63 part-time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37376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93408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$125,449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Payroll taxes, devices, legal, office, transit, cloud,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42832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400032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$41,562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10% of all costs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Scenarios and sensitivity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lean base: this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Dhaka tech + New York business, ops and data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1874520"/>
            <a:ext cx="2989106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1874520"/>
            <a:ext cx="2989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$457K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Premium talent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72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+40% Dhaka salaries and +25% New York 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2770632"/>
            <a:ext cx="3586738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2770632"/>
            <a:ext cx="3586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$549K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Full-time data team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data associates at 40 hours a week from day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3666744"/>
            <a:ext cx="4034055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74920" y="3666744"/>
            <a:ext cx="4034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$617K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17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All-US engineering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New York engineers at about $150K a year each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4562856"/>
            <a:ext cx="585216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7492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$895K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</a:rPr>
              <a:t>FUNDING REQUIREMENT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tx1"/>
                </a:solidFill>
              </a:rPr>
              <a:t>$925K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completes the six-month build and funds Months 7–9 at the launch run-rate, with no revenue assumed.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0" y="2743200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532120" y="2743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7432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$457.2K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7432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complete, 40 people, beta live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3502152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532120" y="35021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50215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$925K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021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months of runway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4261104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2611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12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61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$1.39M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26110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months of runway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PathaSathi business model</a:t>
            </a:r>
            <a:endParaRPr lang="en-US" sz="4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1609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0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merchant gets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listing, basic catalogue, 1 user, with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catalogue and orders, verified badge, customer SMS reminders, reports,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Multi-staff, online storefront and delivery, marketing hub, AI advice, priority listing,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1560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Payment commission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0.5% on online payments via Stripe Connect split payments, on top of Stripe's own fee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1792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660392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SMS credits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60392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Bulk SMS resold with a small margin, about US$1.50 per paid merchant per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0624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69224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69224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Banner ads for customers and free-plan merchants only, never at checkout: about US$0.08 per active customer a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How merchants get onboarded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75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 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 and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10-minute demo on the merchant's phone, in the shop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417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191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6509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15650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370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Same day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5650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sign-up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5650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 signs up with a phone number and a map pin on the Free plan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1993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11993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23130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0874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25466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2546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82666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Days 1–3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25466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Shop set-up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25466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Products added by barcode or AI photo scan, plus prices, delivery zones and Stripe payouts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88890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288890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Onboarding 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9208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2983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442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49442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95162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First 30 days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442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and check-ins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9442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Training in Bangla or English, check-ins in weeks 1 and 3; each merchant invites first 10 customers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784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45784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Support 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6104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49878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63379" y="20116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66337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12057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Month 1–2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66337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Upgrade to paid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66337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merchant needs a verified badge, SMS reminders or an online store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2680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62680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$19 or $49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138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Year 1 funnel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51460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67919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3,795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join and upgrade to paid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25780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212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69671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2,799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676656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still paying at year end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7532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4964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871423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27,990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978408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active customers (10 per merchant)</a:t>
            </a:r>
            <a:endParaRPr lang="en-US" sz="13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After launch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5–6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150–200 beta merchants in Queens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1,500–2,000 customers, 10 per merchant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Jackson Heights, Jamaica, Ozone Park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 bugs from feedback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200 ready to pay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2,000 customers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8726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330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618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2618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618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New York City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2618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Door-to-door merchant sales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Brooklyn and Bronx (Parkchester)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Bangla media, Facebook, TikTok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Referral: 1 free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2618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72618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2,799 paid merchants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2618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27,990 customers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4652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NJ and Michigan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Paterson, New Jersey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Detroit and Hamtramck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Mosque and community partners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 broadcasts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6,789 paid merchants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67,890 customers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2794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8398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6686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16686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Years 3–5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6686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Nationwide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6686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Atlanta, Texas, California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 South Asian communities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Brand-sponsored ads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Annual plans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6686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16686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20,290 paid merchants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16686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202,900 customers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Merchant and customer growth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 : 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880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active merchant serves about ten active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Beta  </a:t>
            </a:r>
            <a:r>
              <a:rPr lang="en-US" sz="1400" dirty="0">
                <a:solidFill>
                  <a:schemeClr val="tx1"/>
                </a:solidFill>
              </a:rPr>
              <a:t>150–200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1,500–2,000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Year 5  </a:t>
            </a:r>
            <a:r>
              <a:rPr lang="en-US" sz="1400" dirty="0">
                <a:solidFill>
                  <a:schemeClr val="tx1"/>
                </a:solidFill>
              </a:rPr>
              <a:t>20,290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202,900 customers</a:t>
            </a:r>
            <a:endParaRPr lang="en-US" sz="1400" dirty="0"/>
          </a:p>
        </p:txBody>
      </p:sp>
      <p:graphicFrame>
        <p:nvGraphicFramePr>
          <p:cNvPr id="10" name="Customer growth chart"/>
          <p:cNvGraphicFramePr/>
          <p:nvPr/>
        </p:nvGraphicFramePr>
        <p:xfrm>
          <a:off x="3977640" y="1783080"/>
          <a:ext cx="7397496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4617720"/>
          <a:ext cx="7397496" cy="109728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150–200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1,500–2,000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First 6 months of revenue</a:t>
            </a:r>
            <a:endParaRPr lang="en-US" sz="4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127248"/>
        </p:xfrm>
        <a:graphic>
          <a:graphicData uri="http://schemas.openxmlformats.org/drawingml/2006/table">
            <a:tbl>
              <a:tblPr/>
              <a:tblGrid>
                <a:gridCol w="117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+ SMS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(US$)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156,043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−148,483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156,682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−141,487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157,365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−134,416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158,096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−127,231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158,880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−119,891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159,720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−112,354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127,151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946,786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−783,862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Five years revenue</a:t>
            </a:r>
            <a:endParaRPr lang="en-US" sz="4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paid merchants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Avg/month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49,816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196,149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363,843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137,530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541,523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178,594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471,965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B</a:t>
            </a:r>
            <a:r>
              <a:rPr lang="en-US" sz="4000" b="1" dirty="0">
                <a:solidFill>
                  <a:schemeClr val="tx1"/>
                </a:solidFill>
              </a:rPr>
              <a:t>reak-even point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US$156,043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cost in launch month: team of 40 plus operating costs, rising as merchants grow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US$37.80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monthly revenue per paid merchant, incl. US$0.80 from 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~9,930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paid merchants (~99,300 customers) when revenue first covers costs, Month 31 after launch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11880"/>
          <a:ext cx="10552176" cy="1152144"/>
        </p:xfrm>
        <a:graphic>
          <a:graphicData uri="http://schemas.openxmlformats.org/drawingml/2006/table">
            <a:tbl>
              <a:tblPr/>
              <a:tblGrid>
                <a:gridCol w="48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break-even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5-year 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case (this forecast)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US$22.3M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(half the merchant growth)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US$11.2M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Profit or loss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+US$0.33M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cumulative profit after 5½ years, growth case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Month 31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after launch: first month revenue covers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−US$3.31M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cumulative point, Month 30 after launch: the funding needed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52176" cy="2779776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/ 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growth is half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457,190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−457,190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−457,190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−457,190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2,016,914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−1,373,332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−1,830,522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−1,994,702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3,573,669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−1,219,881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−3,050,403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−3,702,256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4,463,800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−97,688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−3,148,091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−4,828,073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5,381,428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1,116,845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−2,031,246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−5,437,600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6,073,803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2,364,770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333,524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−5,435,314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21,966,804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333,524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−5,435,314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                  Thank </a:t>
            </a:r>
            <a:r>
              <a:rPr lang="en-US" sz="5400" b="1" dirty="0">
                <a:solidFill>
                  <a:schemeClr val="accent1"/>
                </a:solidFill>
              </a:rPr>
              <a:t>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aSathi Brand">
  <a:themeElements>
    <a:clrScheme name="PathaSathi Brand">
      <a:dk1>
        <a:srgbClr val="0F172A"/>
      </a:dk1>
      <a:lt1>
        <a:srgbClr val="FFFFFF"/>
      </a:lt1>
      <a:dk2>
        <a:srgbClr val="3A1A10"/>
      </a:dk2>
      <a:lt2>
        <a:srgbClr val="FFFAF8"/>
      </a:lt2>
      <a:accent1>
        <a:srgbClr val="E05236"/>
      </a:accent1>
      <a:accent2>
        <a:srgbClr val="F59E0B"/>
      </a:accent2>
      <a:accent3>
        <a:srgbClr val="C04A22"/>
      </a:accent3>
      <a:accent4>
        <a:srgbClr val="F97316"/>
      </a:accent4>
      <a:accent5>
        <a:srgbClr val="94A3B8"/>
      </a:accent5>
      <a:accent6>
        <a:srgbClr val="8C3015"/>
      </a:accent6>
      <a:hlink>
        <a:srgbClr val="C04A22"/>
      </a:hlink>
      <a:folHlink>
        <a:srgbClr val="94A3B8"/>
      </a:folHlink>
    </a:clrScheme>
    <a:fontScheme name="PathaSathi Br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2716</Words>
  <Application>Microsoft Macintosh PowerPoint</Application>
  <PresentationFormat>Widescreen</PresentationFormat>
  <Paragraphs>949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PathaSathi Brand</vt:lpstr>
      <vt:lpstr>PathaSathi 6-month launch plan</vt:lpstr>
      <vt:lpstr>Summary</vt:lpstr>
      <vt:lpstr>Operating model</vt:lpstr>
      <vt:lpstr>Build roadmap</vt:lpstr>
      <vt:lpstr>Staged hiring gates</vt:lpstr>
      <vt:lpstr>Headcount by month</vt:lpstr>
      <vt:lpstr>Dhaka tech team: 5 people by function</vt:lpstr>
      <vt:lpstr>Dhaka tech team: salary cost by function</vt:lpstr>
      <vt:lpstr>New York team</vt:lpstr>
      <vt:lpstr>New York team: monthly cost by role</vt:lpstr>
      <vt:lpstr>Service data team</vt:lpstr>
      <vt:lpstr>Other operating costs</vt:lpstr>
      <vt:lpstr>Computers and devices</vt:lpstr>
      <vt:lpstr>Monthly spend and cumulative budget</vt:lpstr>
      <vt:lpstr>Where the money goes</vt:lpstr>
      <vt:lpstr>Scenarios and sensitivity</vt:lpstr>
      <vt:lpstr>PowerPoint Presentation</vt:lpstr>
      <vt:lpstr>PathaSathi business model</vt:lpstr>
      <vt:lpstr>How merchants get onboarded</vt:lpstr>
      <vt:lpstr>After launch</vt:lpstr>
      <vt:lpstr>Merchant and customer growth</vt:lpstr>
      <vt:lpstr>First 6 months of revenue</vt:lpstr>
      <vt:lpstr>Five years revenue</vt:lpstr>
      <vt:lpstr>Break-even point</vt:lpstr>
      <vt:lpstr>Profit or loss</vt:lpstr>
      <vt:lpstr>                  Thank you</vt:lpstr>
    </vt:vector>
  </TitlesOfParts>
  <Company>PathaSathi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PathaSathi 6-month launch plan</dc:title>
  <dc:subject>PptxGenJS Presentation</dc:subject>
  <dc:creator>PathaSathi</dc:creator>
  <cp:lastModifiedBy>Zotish</cp:lastModifiedBy>
  <cp:revision>6</cp:revision>
  <dcterms:created xsi:type="dcterms:W3CDTF">2026-10-10T13:40:37Z</dcterms:created>
  <dcterms:modified xsi:type="dcterms:W3CDTF">2026-10-10T19:20:24Z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2026-10-10T16:48:38Z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93bc23e1-20f4-4652-8c77-e6af90e8526f</vt:lpwstr>
  </property>
  <property fmtid="{D5CDD505-2E9C-101B-9397-08002B2CF9AE}" pid="7" name="MSIP_Label_defa4170-0d19-0005-0004-bc88714345d2_ActionId">
    <vt:lpwstr>86c9b632-ec91-4089-ba32-03af7f0ddabe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