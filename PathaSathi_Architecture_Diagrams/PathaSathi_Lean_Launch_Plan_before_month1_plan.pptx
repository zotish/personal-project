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3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4.xml" ContentType="application/vnd.openxmlformats-officedocument.drawingml.chart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C9E440E4-774E-C865-8171-FEB9E36CBE02}">
          <p14:sldIdLst>
            <p14:sldId id="256"/>
            <p14:sldId id="257"/>
          </p14:sldIdLst>
        </p14:section>
        <p14:section name="Plan and team" id="{E988E85B-C2A1-FF5B-8DEA-6E4367DA512F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Budget" id="{48DDBF5A-1BAE-0584-E85D-A29115F25B7A}">
          <p14:sldIdLst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Business and growth" id="{18C37434-EC17-63BC-E93D-BB85928C8D0E}">
          <p14:sldIdLst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Close" id="{F36BACC0-D41E-2BDF-DE47-33A37A754086}">
          <p14:sldIdLst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Dhaka tech team</c:v>
                </c:pt>
              </c:strCache>
            </c:strRef>
          </c:tx>
          <c:spPr>
            <a:solidFill>
              <a:srgbClr val="E05236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25-9A42-8B30-1919CB8BADE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New York team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2</c:v>
                </c:pt>
                <c:pt idx="3">
                  <c:v>3</c:v>
                </c:pt>
                <c:pt idx="4">
                  <c:v>6</c:v>
                </c:pt>
                <c:pt idx="5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F25-9A42-8B30-1919CB8BAD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2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Dhaka tech team</c:v>
                </c:pt>
              </c:strCache>
            </c:strRef>
          </c:tx>
          <c:spPr>
            <a:solidFill>
              <a:srgbClr val="C04A2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0F172A"/>
                    </a:solidFill>
                    <a:latin typeface="+mn-lt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B3-604B-8915-EBCE306FFD2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New York team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CA1-BE4E-AD8C-70727A3FCBDF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CA1-BE4E-AD8C-70727A3FCBDF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0F172A"/>
                    </a:solidFill>
                    <a:latin typeface="+mn-lt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2</c:v>
                </c:pt>
                <c:pt idx="3">
                  <c:v>3</c:v>
                </c:pt>
                <c:pt idx="4">
                  <c:v>6</c:v>
                </c:pt>
                <c:pt idx="5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B3-604B-8915-EBCE306FFD2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5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tickLblPos val="nextTo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Dhaka tech team</c:v>
                </c:pt>
              </c:strCache>
            </c:strRef>
          </c:tx>
          <c:spPr>
            <a:solidFill>
              <a:srgbClr val="C04A22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4400</c:v>
                </c:pt>
                <c:pt idx="1">
                  <c:v>4400</c:v>
                </c:pt>
                <c:pt idx="2">
                  <c:v>4400</c:v>
                </c:pt>
                <c:pt idx="3">
                  <c:v>4400</c:v>
                </c:pt>
                <c:pt idx="4">
                  <c:v>4400</c:v>
                </c:pt>
                <c:pt idx="5">
                  <c:v>4400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66-6C4E-A1A5-4E4406E85DB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New York team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8000</c:v>
                </c:pt>
                <c:pt idx="3">
                  <c:v>12200</c:v>
                </c:pt>
                <c:pt idx="4">
                  <c:v>23400</c:v>
                </c:pt>
                <c:pt idx="5">
                  <c:v>38100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366-6C4E-A1A5-4E4406E85DB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Other operating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15401</c:v>
                </c:pt>
                <c:pt idx="1">
                  <c:v>3350</c:v>
                </c:pt>
                <c:pt idx="2">
                  <c:v>7348</c:v>
                </c:pt>
                <c:pt idx="3">
                  <c:v>11113</c:v>
                </c:pt>
                <c:pt idx="4">
                  <c:v>20588</c:v>
                </c:pt>
                <c:pt idx="5">
                  <c:v>28099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366-6C4E-A1A5-4E4406E85DB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Contingency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1980</c:v>
                </c:pt>
                <c:pt idx="1">
                  <c:v>775</c:v>
                </c:pt>
                <c:pt idx="2">
                  <c:v>1975</c:v>
                </c:pt>
                <c:pt idx="3">
                  <c:v>2771</c:v>
                </c:pt>
                <c:pt idx="4">
                  <c:v>4839</c:v>
                </c:pt>
                <c:pt idx="5">
                  <c:v>7060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366-6C4E-A1A5-4E4406E85D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tickLblPos val="nextTo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7659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0F172A"/>
                </a:solidFill>
                <a:latin typeface="+mn-lt"/>
              </a:defRPr>
            </a:pPr>
            <a:r>
              <a:rPr lang="en-US" sz="1400" b="1" i="0" u="none" strike="noStrike">
                <a:solidFill>
                  <a:srgbClr val="0F172A"/>
                </a:solidFill>
                <a:latin typeface="+mn-lt"/>
              </a:rPr>
              <a:t>Active customers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customers</c:v>
                </c:pt>
              </c:strCache>
            </c:strRef>
          </c:tx>
          <c:spPr>
            <a:solidFill>
              <a:srgbClr val="E0523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F172A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Beta</c:v>
                </c:pt>
                <c:pt idx="1">
                  <c:v>Month 12</c:v>
                </c:pt>
                <c:pt idx="2">
                  <c:v>Year 1</c:v>
                </c:pt>
                <c:pt idx="3">
                  <c:v>Year 2</c:v>
                </c:pt>
                <c:pt idx="4">
                  <c:v>Year 3</c:v>
                </c:pt>
                <c:pt idx="5">
                  <c:v>Year 4</c:v>
                </c:pt>
                <c:pt idx="6">
                  <c:v>Year 5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2000</c:v>
                </c:pt>
                <c:pt idx="1">
                  <c:v>12530</c:v>
                </c:pt>
                <c:pt idx="2">
                  <c:v>27990</c:v>
                </c:pt>
                <c:pt idx="3">
                  <c:v>67890</c:v>
                </c:pt>
                <c:pt idx="4">
                  <c:v>115870</c:v>
                </c:pt>
                <c:pt idx="5">
                  <c:v>162550</c:v>
                </c:pt>
                <c:pt idx="6">
                  <c:v>202900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8E-EF4C-965D-1B2C2F94AEA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400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31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3A1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143000"/>
            <a:ext cx="5760720" cy="2651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95000"/>
              </a:lnSpc>
              <a:buNone/>
              <a:defRPr lang="en-US" sz="5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lnSpc>
                <a:spcPct val="95000"/>
              </a:lnSpc>
              <a:buNone/>
            </a:pPr>
            <a:endParaRPr lang="en-US" sz="5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4069080"/>
            <a:ext cx="5394960" cy="1234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rgbClr val="F2D3C8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rgbClr val="FF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GREY">
    <p:bg>
      <p:bgPr>
        <a:solidFill>
          <a:srgbClr val="FD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NDING">
    <p:bg>
      <p:bgPr>
        <a:solidFill>
          <a:srgbClr val="E05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3A1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103120"/>
            <a:ext cx="10552176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3520440"/>
            <a:ext cx="8686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rgbClr val="F2D3C8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143000"/>
            <a:ext cx="5760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5600" b="1" dirty="0">
                <a:solidFill>
                  <a:schemeClr val="accent1"/>
                </a:solidFill>
              </a:rPr>
              <a:t>PathaSathi</a:t>
            </a:r>
            <a:endParaRPr lang="en-US" sz="56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5600" b="1" dirty="0">
                <a:solidFill>
                  <a:schemeClr val="bg1"/>
                </a:solidFill>
              </a:rPr>
              <a:t>6-month</a:t>
            </a:r>
            <a:endParaRPr lang="en-US" sz="56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5600" b="1" dirty="0">
                <a:solidFill>
                  <a:schemeClr val="bg1"/>
                </a:solidFill>
              </a:rPr>
              <a:t>launch plan</a:t>
            </a:r>
            <a:endParaRPr lang="en-US" sz="5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4069080"/>
            <a:ext cx="5394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F2D3C8"/>
                </a:solidFill>
              </a:rPr>
              <a:t>A 5-person tech team in Dhaka, a staged business and operations team in New York, and the monthly cost of each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76036" y="154695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2D3C8"/>
                </a:solidFill>
              </a:rPr>
              <a:t>Team size by month: 5 people at kickoff, 15 by Month 6</a:t>
            </a:r>
            <a:endParaRPr lang="en-US" sz="1400" dirty="0"/>
          </a:p>
        </p:txBody>
      </p:sp>
      <p:graphicFrame>
        <p:nvGraphicFramePr>
          <p:cNvPr id="6" name="Team size chart"/>
          <p:cNvGraphicFramePr/>
          <p:nvPr/>
        </p:nvGraphicFramePr>
        <p:xfrm>
          <a:off x="6766560" y="2788920"/>
          <a:ext cx="42976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Summary</a:t>
            </a:r>
            <a:endParaRPr lang="en-US" sz="4000" dirty="0"/>
          </a:p>
        </p:txBody>
      </p:sp>
      <p:sp>
        <p:nvSpPr>
          <p:cNvPr id="3" name="Budget card"/>
          <p:cNvSpPr/>
          <p:nvPr/>
        </p:nvSpPr>
        <p:spPr>
          <a:xfrm>
            <a:off x="822960" y="1828800"/>
            <a:ext cx="4069080" cy="3172968"/>
          </a:xfrm>
          <a:prstGeom prst="roundRect">
            <a:avLst>
              <a:gd name="adj" fmla="val 230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78992" y="21214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SIX-MONTH BUDGET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78992" y="27432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chemeClr val="bg1"/>
                </a:solidFill>
              </a:rPr>
              <a:t>$213.4K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1078992" y="40690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5DDD5"/>
                </a:solidFill>
              </a:rPr>
              <a:t>All-in, including 10% contingency. Average $35.6K per month, peaking at $77.7K in Month 6.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120640" y="1828800"/>
            <a:ext cx="2990088" cy="1499616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120640" y="2011680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3"/>
                </a:solidFill>
              </a:rPr>
              <a:t>5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5349240" y="2615184"/>
            <a:ext cx="2532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people in the Dhaka tech team, Project Manager included, fixed for all six months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385048" y="1828800"/>
            <a:ext cx="2990088" cy="1499616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385048" y="2011680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3"/>
                </a:solidFill>
              </a:rPr>
              <a:t>10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8613648" y="2615184"/>
            <a:ext cx="2532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New York hires by Month 6: operations, finance, sales, support and field staff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120640" y="3502152"/>
            <a:ext cx="6254496" cy="1499616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120640" y="3749040"/>
            <a:ext cx="6254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3"/>
                </a:solidFill>
              </a:rPr>
              <a:t>$80K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4389120"/>
            <a:ext cx="6254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monthly run-rate from Month 7 with a team of 15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5257800"/>
            <a:ext cx="6144999" cy="749808"/>
          </a:xfrm>
          <a:prstGeom prst="roundRect">
            <a:avLst>
              <a:gd name="adj" fmla="val 9756"/>
            </a:avLst>
          </a:prstGeom>
          <a:solidFill>
            <a:srgbClr val="FEE7DF"/>
          </a:solidFill>
          <a:ln w="9525">
            <a:solidFill>
              <a:srgbClr val="FEE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1078992" y="5257800"/>
            <a:ext cx="575007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3"/>
                </a:solidFill>
              </a:rPr>
              <a:t>Pilot target  </a:t>
            </a:r>
            <a:r>
              <a:rPr lang="en-US" sz="1600" dirty="0">
                <a:solidFill>
                  <a:schemeClr val="tx1"/>
                </a:solidFill>
              </a:rPr>
              <a:t>150–200 merchants serving 1,500–2,000 customers 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Operating model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4818888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97280" y="2240280"/>
            <a:ext cx="4270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Dhaka: tech team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2834640"/>
            <a:ext cx="427024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Project management : 1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Backend development : 2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Frontend and mobile app : 1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QA, DevOps and cloud : 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5047488"/>
            <a:ext cx="4270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Total salaries, 5 people : $26,400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97280" y="5468112"/>
            <a:ext cx="427024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556248" y="1828800"/>
            <a:ext cx="4818888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830568" y="2240280"/>
            <a:ext cx="4270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New York: business and ops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830568" y="2834640"/>
            <a:ext cx="427024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Operations : Operations Manager (leads New York)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Finance : Finance and Compliance (part-time)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Growth : 3 Sales Executives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Merchant success : support agents, field officers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Service data : Sales Executives, on contract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Advisory : US legal and fintech retainer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30568" y="5047488"/>
            <a:ext cx="4270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Total salaries, 10 people : $81,700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830568" y="5468112"/>
            <a:ext cx="427024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824728" y="3474720"/>
            <a:ext cx="548640" cy="292608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824728" y="3931920"/>
            <a:ext cx="548640" cy="292608"/>
          </a:xfrm>
          <a:prstGeom prst="lef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Build roadmap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4709160" y="1828800"/>
            <a:ext cx="11109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Month 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820156" y="1828800"/>
            <a:ext cx="11109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Month 2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931152" y="1828800"/>
            <a:ext cx="11109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Month 3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042148" y="1828800"/>
            <a:ext cx="11109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Month 4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53144" y="1828800"/>
            <a:ext cx="11109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Month 5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264140" y="1828800"/>
            <a:ext cx="11109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Month 6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2240280"/>
            <a:ext cx="10552176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960120" y="2240280"/>
            <a:ext cx="3703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   Discovery, DB schema and UX spec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2633472"/>
            <a:ext cx="10552176" cy="393192"/>
          </a:xfrm>
          <a:prstGeom prst="rect">
            <a:avLst/>
          </a:prstGeom>
          <a:solidFill>
            <a:srgbClr val="FFF4F0"/>
          </a:solidFill>
          <a:ln w="12700">
            <a:solidFill>
              <a:srgbClr val="FFF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960120" y="2633472"/>
            <a:ext cx="3703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2   Multi-tenant backend and auth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3026664"/>
            <a:ext cx="10552176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960120" y="3026664"/>
            <a:ext cx="3703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3   Core engine: directory, map, feed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3419856"/>
            <a:ext cx="10552176" cy="393192"/>
          </a:xfrm>
          <a:prstGeom prst="rect">
            <a:avLst/>
          </a:prstGeom>
          <a:solidFill>
            <a:srgbClr val="FFF4F0"/>
          </a:solidFill>
          <a:ln w="12700">
            <a:solidFill>
              <a:srgbClr val="FFF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960120" y="3419856"/>
            <a:ext cx="3703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4   Marketplace: catalogue, cart, checkout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" y="3813048"/>
            <a:ext cx="10552176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960120" y="3813048"/>
            <a:ext cx="3703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5   Stripe payments, maps and courier APIs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" y="4206240"/>
            <a:ext cx="10552176" cy="393192"/>
          </a:xfrm>
          <a:prstGeom prst="rect">
            <a:avLst/>
          </a:prstGeom>
          <a:solidFill>
            <a:srgbClr val="FFF4F0"/>
          </a:solidFill>
          <a:ln w="12700">
            <a:solidFill>
              <a:srgbClr val="FFF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960120" y="4206240"/>
            <a:ext cx="3703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6   AI assistant, notifications, marketing hub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22960" y="4599432"/>
            <a:ext cx="10552176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960120" y="4599432"/>
            <a:ext cx="3703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7   QA and beta: 150–200 merchants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22960" y="4992624"/>
            <a:ext cx="10552176" cy="393192"/>
          </a:xfrm>
          <a:prstGeom prst="rect">
            <a:avLst/>
          </a:prstGeom>
          <a:solidFill>
            <a:srgbClr val="FFF4F0"/>
          </a:solidFill>
          <a:ln w="12700">
            <a:solidFill>
              <a:srgbClr val="FFF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960120" y="4992624"/>
            <a:ext cx="3703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8   Launch: onboard 1,500–2,000 customers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709160" y="2286000"/>
            <a:ext cx="769151" cy="301752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4709160" y="2286000"/>
            <a:ext cx="76915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 wks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478311" y="2679192"/>
            <a:ext cx="769151" cy="301752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5478311" y="2679192"/>
            <a:ext cx="76915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 wks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247462" y="3072384"/>
            <a:ext cx="1025535" cy="301752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6247462" y="3072384"/>
            <a:ext cx="102553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 wks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272997" y="3465576"/>
            <a:ext cx="769151" cy="301752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7272997" y="3465576"/>
            <a:ext cx="76915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 wks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042148" y="3858768"/>
            <a:ext cx="769151" cy="301752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8042148" y="3858768"/>
            <a:ext cx="76915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 wks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8811299" y="4251960"/>
            <a:ext cx="769151" cy="301752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8811299" y="4251960"/>
            <a:ext cx="76915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 wks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9495844" y="4645152"/>
            <a:ext cx="769151" cy="301752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 txBox="1"/>
          <p:nvPr/>
        </p:nvSpPr>
        <p:spPr>
          <a:xfrm>
            <a:off x="9495844" y="4645152"/>
            <a:ext cx="76915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3 wks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10862369" y="5038344"/>
            <a:ext cx="512767" cy="301752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 txBox="1"/>
          <p:nvPr/>
        </p:nvSpPr>
        <p:spPr>
          <a:xfrm>
            <a:off x="10862369" y="5038344"/>
            <a:ext cx="512767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2 wks</a:t>
            </a:r>
            <a:endParaRPr lang="en-US" sz="140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Staged hiring gates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10552176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05840" y="18288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Kickoff · Day 1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2834640" y="18288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Funding in place and US company (Delaware C-corp, NY registration) set up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1828800"/>
            <a:ext cx="4791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Releases Month 1 hires. Dhaka: the full team of 5. No New York hires yet.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532888"/>
            <a:ext cx="10552176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005840" y="253288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G1 · end of M1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253288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Discovery done: database schema and UX spec signed off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532888"/>
            <a:ext cx="4791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No new hires. Founders build the merchant, partner and community pipeline.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3236976"/>
            <a:ext cx="10552176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005840" y="3236976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G2 · end of M2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3236976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Multi-tenant backend and auth demoed end to end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3236976"/>
            <a:ext cx="4791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Releases Month 3 hires. Operations Manager, Finance (part-time).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3941064"/>
            <a:ext cx="10552176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1005840" y="394106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G3 · end of M3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2834640" y="3941064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Directory, map and marketplace working in staging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3941064"/>
            <a:ext cx="4791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Releases Month 4 hires. First Sales Executive; service data contract starts.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" y="4645152"/>
            <a:ext cx="10552176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1005840" y="464515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G4 · end of M4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2834640" y="4645152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Stripe, maps and courier sandboxes passing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4645152"/>
            <a:ext cx="4791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Releases Month 5 hires. 2 support agents, 2nd Sales Executive.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22960" y="5349240"/>
            <a:ext cx="10552176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1005840" y="53492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G5 · end of M5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2834640" y="534924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Beta live: 150–200 merchants, 1,500–2,000 customers, 5 service directories filled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5349240"/>
            <a:ext cx="4791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Releases Month 6 hires. 3rd Sales Executive, 3rd support agent, 2 field officers.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Headcount by month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883664"/>
            <a:ext cx="182880" cy="182880"/>
          </a:xfrm>
          <a:prstGeom prst="roundRect">
            <a:avLst>
              <a:gd name="adj" fmla="val 15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97280" y="182880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Dhaka tech team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0" y="1883664"/>
            <a:ext cx="182880" cy="182880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474720" y="182880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New York team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623560" y="182880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Total people at the end of each bar · who joins, at far right</a:t>
            </a:r>
            <a:endParaRPr lang="en-US" sz="1400" dirty="0"/>
          </a:p>
        </p:txBody>
      </p:sp>
      <p:graphicFrame>
        <p:nvGraphicFramePr>
          <p:cNvPr id="8" name="Headcount chart"/>
          <p:cNvGraphicFramePr/>
          <p:nvPr/>
        </p:nvGraphicFramePr>
        <p:xfrm>
          <a:off x="1874520" y="2286000"/>
          <a:ext cx="27432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 txBox="1"/>
          <p:nvPr/>
        </p:nvSpPr>
        <p:spPr>
          <a:xfrm>
            <a:off x="822960" y="228600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Month 1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4800600" y="228600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5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5623560" y="228600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Dhaka </a:t>
            </a:r>
            <a:r>
              <a:rPr lang="en-US" sz="1400" dirty="0">
                <a:solidFill>
                  <a:schemeClr val="tx1"/>
                </a:solidFill>
              </a:rPr>
              <a:t>Full team of 5. No New York hires yet.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288036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Month 2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800600" y="288036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5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5623560" y="288036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No new hires. Dhaka stays at 5.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347472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Month 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4800600" y="347472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7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623560" y="347472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New York </a:t>
            </a:r>
            <a:r>
              <a:rPr lang="en-US" sz="1400" dirty="0">
                <a:solidFill>
                  <a:schemeClr val="tx1"/>
                </a:solidFill>
              </a:rPr>
              <a:t>Operations Manager, Finance (part-time).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" y="406908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Month 4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4800600" y="406908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8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623560" y="406908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New York </a:t>
            </a:r>
            <a:r>
              <a:rPr lang="en-US" sz="1400" dirty="0">
                <a:solidFill>
                  <a:schemeClr val="tx1"/>
                </a:solidFill>
              </a:rPr>
              <a:t>First Sales Executive; service data contract starts.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" y="466344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Month 5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4800600" y="466344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11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5623560" y="466344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New York </a:t>
            </a:r>
            <a:r>
              <a:rPr lang="en-US" sz="1400" dirty="0">
                <a:solidFill>
                  <a:schemeClr val="tx1"/>
                </a:solidFill>
              </a:rPr>
              <a:t>2 support agents, 2nd Sales Executive.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822960" y="525780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Month 6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4800600" y="525780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15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5623560" y="525780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New York </a:t>
            </a:r>
            <a:r>
              <a:rPr lang="en-US" sz="1400" dirty="0">
                <a:solidFill>
                  <a:schemeClr val="tx1"/>
                </a:solidFill>
              </a:rPr>
              <a:t>3rd Sales Executive, 3rd support agent, 2 field officers.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Dhaka tech team: 5 people by function</a:t>
            </a:r>
            <a:endParaRPr lang="en-US" sz="4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28800"/>
          <a:ext cx="10552176" cy="2420112"/>
        </p:xfrm>
        <a:graphic>
          <a:graphicData uri="http://schemas.openxmlformats.org/drawingml/2006/table">
            <a:tbl>
              <a:tblPr/>
              <a:tblGrid>
                <a:gridCol w="3337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7101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Salary BDT/m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Salary USD/m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Person-months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Manager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130,000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 Developer (×2)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117,000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 and mobile app Developer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89,000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QA, DevOps and Cloud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93,000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people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Dhaka tech team: salary cost by function</a:t>
            </a:r>
            <a:endParaRPr lang="en-US" sz="4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28800"/>
          <a:ext cx="10552176" cy="2304288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817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6-month total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Manager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6,300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 Developer (×2)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1,900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1,900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1,900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1,900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1,900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1,900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11,400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 and mobile app Developer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4,200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QA, DevOps and Cloud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4,500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tech salaries (US$)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4,400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4,400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4,400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4,400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4,400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4,400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26,400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New York team</a:t>
            </a:r>
            <a:endParaRPr lang="en-US" sz="4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28800"/>
          <a:ext cx="10552176" cy="2432304"/>
        </p:xfrm>
        <a:graphic>
          <a:graphicData uri="http://schemas.openxmlformats.org/drawingml/2006/table">
            <a:tbl>
              <a:tblPr/>
              <a:tblGrid>
                <a:gridCol w="3520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675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675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 basis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Salary USD/m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Operations Manager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$66K / year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Finance and Compliance (part-time)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$30K / year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 Executive (merchant acquisition)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$50K / year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4,200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 Agent (Bangla + English)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$42K / year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Field Support Officer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$42K / year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headcount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New York team: monthly cost by role</a:t>
            </a:r>
            <a:endParaRPr lang="en-US" sz="4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28800"/>
          <a:ext cx="10552176" cy="2432304"/>
        </p:xfrm>
        <a:graphic>
          <a:graphicData uri="http://schemas.openxmlformats.org/drawingml/2006/table">
            <a:tbl>
              <a:tblPr/>
              <a:tblGrid>
                <a:gridCol w="3520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7101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6-month total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Operations Manager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Finance and Compliance (part-time)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 Executive (merchant acquisition)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4,200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8,400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12,600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25,200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 Agent (Bangla + English)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Field Support Officer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New York team (US$)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12,200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23,400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38,100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81,700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Service data collection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2926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51560" y="19659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3"/>
                </a:solidFill>
              </a:rPr>
              <a:t>5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2651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services at launch, collected by Sales Executives on contract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342900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051560" y="34290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$1,000 per service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one-time contract fee, about 150 verified listings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51560" y="45262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$5,000 before beta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then $500–$1,500 a month, only when needed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23360" y="1828800"/>
            <a:ext cx="2267712" cy="361188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06240" y="201168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206240" y="20116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6"/>
                </a:solidFill>
              </a:rPr>
              <a:t>Months 4–5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242316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At launch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2926080"/>
            <a:ext cx="194767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Jobs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Housing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Free food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Legal aid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Hospitals and clinics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65392" y="1828800"/>
            <a:ext cx="2267712" cy="361188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748272" y="201168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EE7DF"/>
          </a:solidFill>
          <a:ln w="12700">
            <a:solidFill>
              <a:srgbClr val="FEE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748272" y="20116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3"/>
                </a:solidFill>
              </a:rPr>
              <a:t>When needed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748272" y="242316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Next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748272" y="2926080"/>
            <a:ext cx="194767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Pharmacy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Embassy and consulate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Halal food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Grocery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Education and ESL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Transit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Religion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Social aid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07424" y="1828800"/>
            <a:ext cx="2267712" cy="361188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290304" y="201168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EE7DF"/>
          </a:solidFill>
          <a:ln w="12700">
            <a:solidFill>
              <a:srgbClr val="FEE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9290304" y="20116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3"/>
                </a:solidFill>
              </a:rPr>
              <a:t>When needed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290304" y="242316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Later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9290304" y="2926080"/>
            <a:ext cx="194767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Free medicine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Money exchange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Travel and flights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Cars and auto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Electronics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Furniture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Gas and EV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Sports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Other operating costs</a:t>
            </a:r>
            <a:endParaRPr lang="en-US" sz="4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4253826"/>
              </p:ext>
            </p:extLst>
          </p:nvPr>
        </p:nvGraphicFramePr>
        <p:xfrm>
          <a:off x="822960" y="1828800"/>
          <a:ext cx="10552176" cy="41148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52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6-month total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 hosting and APIs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Scales with merchants: $300 in M1 to $2,500 in M6 (hosting, maps, AI)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7,100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 tools: AI, design, testing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$300/mo: AI tools $120, Figma $45, BrowserStack $50, GitHub/Jira/Slack $85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 data collection (contract)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$1,000 per service paid to Sales Executives: 2 services in M4, 3 in M5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Dhaka workspace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 per person per month: desk and internet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York co-working (Queens)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$350 per desk per month for full- and part-time office staff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7,350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Go-to-market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Ads, SMS, merchant demos and community events from M4: $1,500 to $6,500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Legal and fintech advisory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$2,000/mo US counsel retainer plus $5,000 company set-up in M1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insurance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General liability and cyber cover, $400 per month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2,400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Field transit (OMNY)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$135 per month for sales and field staff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1,080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Computers and devices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MacBooks, 5 laptops, 5 tablets, 5 printers, 2 phones, 3 headsets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10,299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Dhaka–New York travel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 trips at $3,000: discovery in M1 and launch in M6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 payroll taxes (10%)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Employer FICA, unemployment insurance and workers' comp on US wages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8,170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Health stipend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$400 per month for each full-time US employee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6,800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operating costs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85,899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Computers and devices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333451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51560" y="2011680"/>
            <a:ext cx="287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8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2596896"/>
            <a:ext cx="2877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computers: 3 MacBook Air in Dhaka, 5 office laptops in New York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31792" y="1828800"/>
            <a:ext cx="333451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660392" y="2011680"/>
            <a:ext cx="287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US$1,065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4660392" y="2596896"/>
            <a:ext cx="2877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average per computer: MacBook Air US$1,341, New York laptop US$899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0624" y="1828800"/>
            <a:ext cx="333451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269224" y="2011680"/>
            <a:ext cx="287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US$10,299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8269224" y="2596896"/>
            <a:ext cx="2877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all devices, one-time, bought only when each person joins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429000"/>
          <a:ext cx="10552176" cy="2487168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Bought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 US$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US$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MacBook Air M3 (16GB, 1TB)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Dhaka developers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1,341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4,023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Android test phone (Galaxy A06)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Dhaka QA testing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Office laptop (i5, 16GB, 512GB)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 operations, finance, support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M3, M5–M6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4,495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Android tablet (Galaxy Tab A9+)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Sales, field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M4–M6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Bluetooth receipt printer (58mm)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Merchant demo kits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M4–M6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USB headset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 agents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M5–M6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10,299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Monthly spend and cumulative budget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883664"/>
            <a:ext cx="182880" cy="182880"/>
          </a:xfrm>
          <a:prstGeom prst="roundRect">
            <a:avLst>
              <a:gd name="adj" fmla="val 15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97280" y="1828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Dhaka tech team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971800" y="1883664"/>
            <a:ext cx="182880" cy="182880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246120" y="1828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New York team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120640" y="1883664"/>
            <a:ext cx="182880" cy="182880"/>
          </a:xfrm>
          <a:prstGeom prst="roundRect">
            <a:avLst>
              <a:gd name="adj" fmla="val 15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394960" y="1828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Other operating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269480" y="1883664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543800" y="1828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Contingency</a:t>
            </a:r>
            <a:endParaRPr lang="en-US" sz="1400" dirty="0"/>
          </a:p>
        </p:txBody>
      </p:sp>
      <p:graphicFrame>
        <p:nvGraphicFramePr>
          <p:cNvPr id="11" name="Monthly spend chart"/>
          <p:cNvGraphicFramePr/>
          <p:nvPr/>
        </p:nvGraphicFramePr>
        <p:xfrm>
          <a:off x="1874520" y="2331720"/>
          <a:ext cx="539496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822960" y="2331720"/>
            <a:ext cx="10058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Month 1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7589520" y="2331720"/>
            <a:ext cx="114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$21.8K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8823960" y="2331720"/>
            <a:ext cx="2514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Cumulative $21.8K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2903220"/>
            <a:ext cx="10058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Month 2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7589520" y="2903220"/>
            <a:ext cx="114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$8.5K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8823960" y="2903220"/>
            <a:ext cx="2514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Cumulative $30.3K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" y="3474720"/>
            <a:ext cx="10058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Month 3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7589520" y="3474720"/>
            <a:ext cx="114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$21.7K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8823960" y="3474720"/>
            <a:ext cx="2514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Cumulative $52.0K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" y="4046220"/>
            <a:ext cx="10058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Month 4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7589520" y="4046220"/>
            <a:ext cx="114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$30.5K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8823960" y="4046220"/>
            <a:ext cx="2514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Cumulative $82.5K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822960" y="4617720"/>
            <a:ext cx="10058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Month 5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7589520" y="4617720"/>
            <a:ext cx="114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$53.2K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8823960" y="4617720"/>
            <a:ext cx="2514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Cumulative $135.7K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822960" y="5189220"/>
            <a:ext cx="10058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Month 6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7589520" y="5189220"/>
            <a:ext cx="114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$77.7K</a:t>
            </a:r>
            <a:endParaRPr 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8823960" y="5189220"/>
            <a:ext cx="2514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Cumulative $213.4K</a:t>
            </a:r>
            <a:endParaRPr lang="en-US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Where the money goes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1305430" cy="603504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130543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12.4%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128390" y="1828800"/>
            <a:ext cx="4039910" cy="60350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2128390" y="1828800"/>
            <a:ext cx="403991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38.3%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68300" y="1828800"/>
            <a:ext cx="4247543" cy="603504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168300" y="1828800"/>
            <a:ext cx="424754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40.3%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415843" y="1828800"/>
            <a:ext cx="959293" cy="60350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10415843" y="1828800"/>
            <a:ext cx="95929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9.1%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2697480"/>
            <a:ext cx="243230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24128" y="2953512"/>
            <a:ext cx="164592" cy="164592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280160" y="2880360"/>
            <a:ext cx="183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Dhaka tech salaries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24128" y="3264408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$26,400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" y="3831336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5 people × 6 months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529584" y="2697480"/>
            <a:ext cx="243230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730752" y="2953512"/>
            <a:ext cx="164592" cy="164592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3986784" y="2880360"/>
            <a:ext cx="183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New York team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730752" y="3264408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$81,700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3730752" y="3831336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21 person-months; service data on contract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36208" y="2697480"/>
            <a:ext cx="243230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37376" y="2953512"/>
            <a:ext cx="164592" cy="164592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693408" y="2880360"/>
            <a:ext cx="183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Other operating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437376" y="3264408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$85,899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6437376" y="3831336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Payroll taxes, devices, legal, office, transit, cloud, marketing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942832" y="2697480"/>
            <a:ext cx="243230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144000" y="2953512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9400032" y="2880360"/>
            <a:ext cx="183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Contingency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144000" y="3264408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$19,400</a:t>
            </a:r>
            <a:endParaRPr lang="en-US" sz="3000" dirty="0"/>
          </a:p>
        </p:txBody>
      </p:sp>
      <p:sp>
        <p:nvSpPr>
          <p:cNvPr id="30" name="Text 28"/>
          <p:cNvSpPr txBox="1"/>
          <p:nvPr/>
        </p:nvSpPr>
        <p:spPr>
          <a:xfrm>
            <a:off x="9144000" y="3831336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10% of all costs</a:t>
            </a:r>
            <a:endParaRPr lang="en-US" sz="13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Scenarios and sensitivity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2880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Hybrid lean base: this plan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762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Dhaka tech + New York business and ops team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74920" y="1874520"/>
            <a:ext cx="1917439" cy="4572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074920" y="1874520"/>
            <a:ext cx="19174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$213K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2491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Premium talent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7238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+40% Dhaka salaries and +25% New York pay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74920" y="2770632"/>
            <a:ext cx="2243872" cy="4572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074920" y="2770632"/>
            <a:ext cx="2243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$250K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62102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Dedicated data team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96849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21 part-time associates, one per service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74920" y="3666744"/>
            <a:ext cx="3200305" cy="4572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074920" y="3666744"/>
            <a:ext cx="3200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$356K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51713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All-US engineering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8646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5 New York engineers at about $150K a year each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74920" y="4562856"/>
            <a:ext cx="5852160" cy="457200"/>
          </a:xfrm>
          <a:prstGeom prst="roundRect">
            <a:avLst>
              <a:gd name="adj" fmla="val 12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5074920" y="4562856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$651K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960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tx1"/>
                </a:solidFill>
              </a:rPr>
              <a:t>FUNDING REQUIREMENT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chemeClr val="tx1"/>
                </a:solidFill>
              </a:rPr>
              <a:t>$454K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6177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completes the six-month build and funds Months 7–9 at the launch run-rate, with no revenue assumed.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303520" y="2743200"/>
            <a:ext cx="6071616" cy="621792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532120" y="2743200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Month 6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12280" y="2743200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$213.4K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412480" y="2743200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Build complete, 15 people, beta live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03520" y="3502152"/>
            <a:ext cx="6071616" cy="621792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532120" y="3502152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Month 9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812280" y="3502152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$454K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3502152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Three months of runway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03520" y="4261104"/>
            <a:ext cx="6071616" cy="621792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532120" y="4261104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Month 12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812280" y="4261104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$695K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4261104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Six months of runway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PathaSathi business model</a:t>
            </a:r>
            <a:endParaRPr lang="en-US" sz="4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28800"/>
          <a:ext cx="10552176" cy="1609344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603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 per month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the merchant gets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Map listing, basic catalogue, 1 user, with ads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catalogue and orders, verified badge, customer SMS reminders, reports, no ads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Multi-staff, online storefront and delivery, marketing hub, AI advice, priority listing, no ads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22960" y="3703320"/>
            <a:ext cx="333451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1051560" y="3959352"/>
            <a:ext cx="2877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Payment commission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051560" y="4361688"/>
            <a:ext cx="2877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0.5% on online payments via Stripe Connect split payments, on top of Stripe's own fee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431792" y="3703320"/>
            <a:ext cx="333451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4660392" y="3959352"/>
            <a:ext cx="2877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SMS credits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660392" y="4361688"/>
            <a:ext cx="2877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Bulk SMS resold with a small margin, about US$1.50 per paid merchant per month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040624" y="3703320"/>
            <a:ext cx="333451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8269224" y="3959352"/>
            <a:ext cx="2877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Ads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269224" y="4361688"/>
            <a:ext cx="2877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Banner ads for customers and free-plan merchants only, never at checkout: about US$0.08 per active customer a month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How merchants get onboarded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1876349" cy="3063240"/>
          </a:xfrm>
          <a:prstGeom prst="roundRect">
            <a:avLst>
              <a:gd name="adj" fmla="val 389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87552" y="201168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87552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44752" y="2011680"/>
            <a:ext cx="11448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Day 0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2514600"/>
            <a:ext cx="158374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Visit and demo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3127248"/>
            <a:ext cx="1583741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 10-minute demo on the merchant's phone, in the shop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50976" y="4453128"/>
            <a:ext cx="1620317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950976" y="4453128"/>
            <a:ext cx="162031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6"/>
                </a:solidFill>
              </a:rPr>
              <a:t>Sales Executive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54173" y="2103120"/>
            <a:ext cx="182880" cy="18288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991917" y="1828800"/>
            <a:ext cx="1876349" cy="3063240"/>
          </a:xfrm>
          <a:prstGeom prst="roundRect">
            <a:avLst>
              <a:gd name="adj" fmla="val 389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56509" y="201168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3156509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613709" y="2011680"/>
            <a:ext cx="11448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Same day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156509" y="2514600"/>
            <a:ext cx="158374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Free sign-up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156509" y="3127248"/>
            <a:ext cx="1583741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Merchant signs up with a phone number and a map pin on the Free plan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119933" y="4453128"/>
            <a:ext cx="1620317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3119933" y="4453128"/>
            <a:ext cx="162031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6"/>
                </a:solidFill>
              </a:rPr>
              <a:t>Sales Executive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23130" y="2103120"/>
            <a:ext cx="182880" cy="18288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160874" y="1828800"/>
            <a:ext cx="1876349" cy="3063240"/>
          </a:xfrm>
          <a:prstGeom prst="roundRect">
            <a:avLst>
              <a:gd name="adj" fmla="val 389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325466" y="201168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532546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782666" y="2011680"/>
            <a:ext cx="11448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Days 1–3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325466" y="2514600"/>
            <a:ext cx="158374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Shop set-up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325466" y="3127248"/>
            <a:ext cx="1583741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Products added by barcode or AI photo scan, plus prices, delivery zones and Stripe payouts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288890" y="4453128"/>
            <a:ext cx="1620317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5288890" y="4453128"/>
            <a:ext cx="162031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6"/>
                </a:solidFill>
              </a:rPr>
              <a:t>Sales Executive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092086" y="2103120"/>
            <a:ext cx="182880" cy="18288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329830" y="1828800"/>
            <a:ext cx="1876349" cy="3063240"/>
          </a:xfrm>
          <a:prstGeom prst="roundRect">
            <a:avLst>
              <a:gd name="adj" fmla="val 389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494422" y="201168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7494422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951622" y="2011680"/>
            <a:ext cx="11448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First 30 days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494422" y="2514600"/>
            <a:ext cx="158374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Training and check-ins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7494422" y="3127248"/>
            <a:ext cx="1583741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Training in Bangla or English, check-ins in weeks 1 and 3; each merchant invites first 10 customers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457846" y="4453128"/>
            <a:ext cx="1620317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7457846" y="4453128"/>
            <a:ext cx="162031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6"/>
                </a:solidFill>
              </a:rPr>
              <a:t>Support Agent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261043" y="2103120"/>
            <a:ext cx="182880" cy="18288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9498787" y="1828800"/>
            <a:ext cx="1876349" cy="3063240"/>
          </a:xfrm>
          <a:prstGeom prst="roundRect">
            <a:avLst>
              <a:gd name="adj" fmla="val 3899"/>
            </a:avLst>
          </a:prstGeom>
          <a:solidFill>
            <a:srgbClr val="FFFFFF"/>
          </a:solidFill>
          <a:ln w="1587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9663379" y="2011680"/>
            <a:ext cx="365760" cy="3657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9663379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10120579" y="2011680"/>
            <a:ext cx="11448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Month 1–2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9663379" y="2514600"/>
            <a:ext cx="158374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Upgrade to paid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9663379" y="3127248"/>
            <a:ext cx="1583741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When the merchant needs a verified badge, SMS reminders or an online store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9626803" y="4453128"/>
            <a:ext cx="1620317" cy="292608"/>
          </a:xfrm>
          <a:prstGeom prst="roundRect">
            <a:avLst>
              <a:gd name="adj" fmla="val 50000"/>
            </a:avLst>
          </a:prstGeom>
          <a:solidFill>
            <a:srgbClr val="FEE7DF"/>
          </a:solidFill>
          <a:ln w="12700">
            <a:solidFill>
              <a:srgbClr val="FEE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 txBox="1"/>
          <p:nvPr/>
        </p:nvSpPr>
        <p:spPr>
          <a:xfrm>
            <a:off x="9626803" y="4453128"/>
            <a:ext cx="162031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3"/>
                </a:solidFill>
              </a:rPr>
              <a:t>$19 or $49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822960" y="5138928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Year 1 funnel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2514600" y="5138928"/>
            <a:ext cx="2651760" cy="713232"/>
          </a:xfrm>
          <a:prstGeom prst="roundRect">
            <a:avLst>
              <a:gd name="adj" fmla="val 7692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 txBox="1"/>
          <p:nvPr/>
        </p:nvSpPr>
        <p:spPr>
          <a:xfrm>
            <a:off x="2679192" y="5138928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3,795</a:t>
            </a:r>
            <a:endParaRPr lang="en-US" sz="2200" dirty="0"/>
          </a:p>
        </p:txBody>
      </p:sp>
      <p:sp>
        <p:nvSpPr>
          <p:cNvPr id="50" name="Text 48"/>
          <p:cNvSpPr txBox="1"/>
          <p:nvPr/>
        </p:nvSpPr>
        <p:spPr>
          <a:xfrm>
            <a:off x="3749040" y="5138928"/>
            <a:ext cx="1325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merchants join and upgrade to paid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5257800" y="5385816"/>
            <a:ext cx="228600" cy="219456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5532120" y="5138928"/>
            <a:ext cx="2651760" cy="713232"/>
          </a:xfrm>
          <a:prstGeom prst="roundRect">
            <a:avLst>
              <a:gd name="adj" fmla="val 769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 txBox="1"/>
          <p:nvPr/>
        </p:nvSpPr>
        <p:spPr>
          <a:xfrm>
            <a:off x="5696712" y="5138928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2,799</a:t>
            </a:r>
            <a:endParaRPr lang="en-US" sz="2200" dirty="0"/>
          </a:p>
        </p:txBody>
      </p:sp>
      <p:sp>
        <p:nvSpPr>
          <p:cNvPr id="54" name="Text 52"/>
          <p:cNvSpPr txBox="1"/>
          <p:nvPr/>
        </p:nvSpPr>
        <p:spPr>
          <a:xfrm>
            <a:off x="6766560" y="5138928"/>
            <a:ext cx="1325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merchants still paying at year end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8275320" y="5385816"/>
            <a:ext cx="228600" cy="219456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8549640" y="5138928"/>
            <a:ext cx="2651760" cy="713232"/>
          </a:xfrm>
          <a:prstGeom prst="roundRect">
            <a:avLst>
              <a:gd name="adj" fmla="val 769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 txBox="1"/>
          <p:nvPr/>
        </p:nvSpPr>
        <p:spPr>
          <a:xfrm>
            <a:off x="8714232" y="5138928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27,990</a:t>
            </a:r>
            <a:endParaRPr lang="en-US" sz="2200" dirty="0"/>
          </a:p>
        </p:txBody>
      </p:sp>
      <p:sp>
        <p:nvSpPr>
          <p:cNvPr id="58" name="Text 56"/>
          <p:cNvSpPr txBox="1"/>
          <p:nvPr/>
        </p:nvSpPr>
        <p:spPr>
          <a:xfrm>
            <a:off x="9784080" y="5138928"/>
            <a:ext cx="1325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active customers (10 per merchant)</a:t>
            </a:r>
            <a:endParaRPr lang="en-US" sz="1300" dirty="0"/>
          </a:p>
        </p:txBody>
      </p:sp>
      <p:sp>
        <p:nvSpPr>
          <p:cNvPr id="5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After launch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2391156" cy="3749040"/>
          </a:xfrm>
          <a:prstGeom prst="roundRect">
            <a:avLst>
              <a:gd name="adj" fmla="val 3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05840" y="201168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05840" y="20116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6"/>
                </a:solidFill>
              </a:rPr>
              <a:t>Months 5–6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423160"/>
            <a:ext cx="20253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Beta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944368"/>
            <a:ext cx="207111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150–200 beta merchants in Queens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1,500–2,000 customers, 10 per merchant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Jackson Heights, Jamaica, Ozone Park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Fix bugs from feedback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05840" y="4681728"/>
            <a:ext cx="2025396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05840" y="4773168"/>
            <a:ext cx="20253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200 ready to pay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5084064"/>
            <a:ext cx="2025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2,000 customers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87268" y="2066544"/>
            <a:ext cx="182880" cy="18288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543300" y="1828800"/>
            <a:ext cx="2391156" cy="3749040"/>
          </a:xfrm>
          <a:prstGeom prst="roundRect">
            <a:avLst>
              <a:gd name="adj" fmla="val 3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726180" y="201168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EE7DF"/>
          </a:solidFill>
          <a:ln w="12700">
            <a:solidFill>
              <a:srgbClr val="FEE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3726180" y="20116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3"/>
                </a:solidFill>
              </a:rPr>
              <a:t>Year 1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726180" y="2423160"/>
            <a:ext cx="20253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New York City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726180" y="2944368"/>
            <a:ext cx="207111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Door-to-door merchant sales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Brooklyn and Bronx (Parkchester)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Bangla media, Facebook, TikTok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Referral: 1 free month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726180" y="4681728"/>
            <a:ext cx="2025396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3726180" y="4773168"/>
            <a:ext cx="20253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2,799 paid merchants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726180" y="5084064"/>
            <a:ext cx="2025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27,990 customers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07608" y="2066544"/>
            <a:ext cx="182880" cy="18288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263640" y="1828800"/>
            <a:ext cx="2391156" cy="3749040"/>
          </a:xfrm>
          <a:prstGeom prst="roundRect">
            <a:avLst>
              <a:gd name="adj" fmla="val 3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46520" y="201168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EE7DF"/>
          </a:solidFill>
          <a:ln w="12700">
            <a:solidFill>
              <a:srgbClr val="FEE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446520" y="20116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3"/>
                </a:solidFill>
              </a:rPr>
              <a:t>Year 2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2423160"/>
            <a:ext cx="20253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NJ and Michigan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2944368"/>
            <a:ext cx="207111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Paterson, New Jersey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Detroit and Hamtramck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Mosque and community partners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WhatsApp broadcasts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46520" y="4681728"/>
            <a:ext cx="2025396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6446520" y="4773168"/>
            <a:ext cx="20253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6,789 paid merchants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446520" y="5084064"/>
            <a:ext cx="2025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67,890 customers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727948" y="2066544"/>
            <a:ext cx="182880" cy="18288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983980" y="1828800"/>
            <a:ext cx="2391156" cy="3749040"/>
          </a:xfrm>
          <a:prstGeom prst="roundRect">
            <a:avLst>
              <a:gd name="adj" fmla="val 3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166860" y="201168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EE7DF"/>
          </a:solidFill>
          <a:ln w="12700">
            <a:solidFill>
              <a:srgbClr val="FEE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9166860" y="20116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3"/>
                </a:solidFill>
              </a:rPr>
              <a:t>Years 3–5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166860" y="2423160"/>
            <a:ext cx="20253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Nationwide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9166860" y="2944368"/>
            <a:ext cx="207111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Atlanta, Texas, California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Other South Asian communities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Brand-sponsored ads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Annual plans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166860" y="4681728"/>
            <a:ext cx="2025396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9166860" y="4773168"/>
            <a:ext cx="20253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20,290 paid merchants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9166860" y="5084064"/>
            <a:ext cx="2025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202,900 customers</a:t>
            </a:r>
            <a:endParaRPr lang="en-US" sz="14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Merchant and customer growth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29260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51560" y="201168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3"/>
                </a:solidFill>
              </a:rPr>
              <a:t>1 : 10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28803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every active merchant serves about ten active customers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374904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051560" y="37490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Beta  </a:t>
            </a:r>
            <a:r>
              <a:rPr lang="en-US" sz="1400" dirty="0">
                <a:solidFill>
                  <a:schemeClr val="tx1"/>
                </a:solidFill>
              </a:rPr>
              <a:t>150–200 merchants →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1,500–2,000 customers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484632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51560" y="48463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Year 5  </a:t>
            </a:r>
            <a:r>
              <a:rPr lang="en-US" sz="1400" dirty="0">
                <a:solidFill>
                  <a:schemeClr val="tx1"/>
                </a:solidFill>
              </a:rPr>
              <a:t>20,290 merchants →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202,900 customers</a:t>
            </a:r>
            <a:endParaRPr lang="en-US" sz="1400" dirty="0"/>
          </a:p>
        </p:txBody>
      </p:sp>
      <p:graphicFrame>
        <p:nvGraphicFramePr>
          <p:cNvPr id="10" name="Customer growth chart"/>
          <p:cNvGraphicFramePr/>
          <p:nvPr/>
        </p:nvGraphicFramePr>
        <p:xfrm>
          <a:off x="3977640" y="1783080"/>
          <a:ext cx="7397496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77640" y="4617720"/>
          <a:ext cx="7397496" cy="1097280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23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23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23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23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23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239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12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Merchants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150–200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1,253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2,799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6,789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11,587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16,255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20,290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1,500–2,000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12,530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27,990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67,890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115,870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162,550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202,900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First 6 months of revenue</a:t>
            </a:r>
            <a:endParaRPr lang="en-US" sz="4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28800"/>
          <a:ext cx="10552176" cy="3127248"/>
        </p:xfrm>
        <a:graphic>
          <a:graphicData uri="http://schemas.openxmlformats.org/drawingml/2006/table">
            <a:tbl>
              <a:tblPr/>
              <a:tblGrid>
                <a:gridCol w="11795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merchants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Paid merchants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Subscriptions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 + SMS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(US$)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5,900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7,560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80,338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−72,778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4,020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11,859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3,015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15,195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80,978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−65,783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6,070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17,910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4,553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22,949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81,661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−58,712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8,170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24,088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6,124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30,865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82,392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−51,527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11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1,031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10,310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30,428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7,736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38,989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83,175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−44,186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12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1,253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12,530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36,966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9,398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47,366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84,015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−36,649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1,467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127,151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32,326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3,448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162,924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492,559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−329,635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Five years revenue</a:t>
            </a:r>
            <a:endParaRPr lang="en-US" sz="4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28800"/>
          <a:ext cx="10552176" cy="277368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105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paid merchants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Paid merchants at year end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Customers at year end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Ads (US$)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(US$)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Avg/month (US$)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3,795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2,799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27,990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13,621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643,582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53,632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7,287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6,789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67,890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49,816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2,353,788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196,149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10,214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11,587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115,870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92,404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4,366,112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363,843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12,129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16,255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162,550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137,530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6,498,273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541,523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12,804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20,290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202,900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178,594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8,438,573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703,214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46,229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471,965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22,300,328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/>
              <a:t>B</a:t>
            </a:r>
            <a:r>
              <a:rPr lang="en-US" sz="4000" b="1" dirty="0">
                <a:solidFill>
                  <a:schemeClr val="tx1"/>
                </a:solidFill>
              </a:rPr>
              <a:t>reak-even point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3334512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51560" y="2011680"/>
            <a:ext cx="287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US$80,338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2596896"/>
            <a:ext cx="28773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cost in launch month: team of 15 plus operating costs, rising as merchants grow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31792" y="1828800"/>
            <a:ext cx="3334512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660392" y="2011680"/>
            <a:ext cx="287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US$37.80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4660392" y="2596896"/>
            <a:ext cx="28773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average monthly revenue per paid merchant, incl. US$0.80 from ads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0624" y="1828800"/>
            <a:ext cx="3334512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269224" y="2011680"/>
            <a:ext cx="287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~2,799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8269224" y="2596896"/>
            <a:ext cx="28773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paid merchants (~27,990 customers) when revenue first covers costs, Month 12 after launch</a:t>
            </a:r>
            <a:endParaRPr lang="en-US" sz="1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611880"/>
          <a:ext cx="10552176" cy="1152144"/>
        </p:xfrm>
        <a:graphic>
          <a:graphicData uri="http://schemas.openxmlformats.org/drawingml/2006/table">
            <a:tbl>
              <a:tblPr/>
              <a:tblGrid>
                <a:gridCol w="4882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Monthly break-even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5-year revenue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 case (this forecast)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12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US$22.3M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Conservative (half the merchant growth)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19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US$11.2M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Profit or loss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333451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51560" y="2011680"/>
            <a:ext cx="287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+US$9.38M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2596896"/>
            <a:ext cx="2877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cumulative profit after 5½ years, growth case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31792" y="1828800"/>
            <a:ext cx="333451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660392" y="2011680"/>
            <a:ext cx="287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Month 12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4660392" y="2596896"/>
            <a:ext cx="2877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after launch: first month revenue covers costs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0624" y="1828800"/>
            <a:ext cx="333451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269224" y="2011680"/>
            <a:ext cx="287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−US$0.66M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8269224" y="2596896"/>
            <a:ext cx="2877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lowest cumulative point, Month 13 after launch: the funding needed</a:t>
            </a:r>
            <a:endParaRPr lang="en-US" sz="14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291840"/>
          <a:ext cx="10552176" cy="2779776"/>
        </p:xfrm>
        <a:graphic>
          <a:graphicData uri="http://schemas.openxmlformats.org/drawingml/2006/table">
            <a:tbl>
              <a:tblPr/>
              <a:tblGrid>
                <a:gridCol w="1682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39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3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3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73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739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Period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Profit / loss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Cumulative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If growth is half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213,399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−213,399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−213,399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−213,399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643,582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1,068,029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−424,447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−637,846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−842,457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2,353,788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1,792,174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561,614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−76,232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−905,543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4,366,112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2,565,073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1,801,039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1,724,807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−344,004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6,498,273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3,360,546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3,137,727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4,862,534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851,428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8,438,573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3,925,644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4,512,929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9,375,463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2,706,026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22,300,328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12,924,865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9,375,463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2,706,026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103120"/>
            <a:ext cx="105521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bg1"/>
                </a:solidFill>
              </a:rPr>
              <a:t>                  Thank </a:t>
            </a:r>
            <a:r>
              <a:rPr lang="en-US" sz="5400" b="1" dirty="0">
                <a:solidFill>
                  <a:schemeClr val="accent1"/>
                </a:solidFill>
              </a:rPr>
              <a:t>you</a:t>
            </a:r>
            <a:endParaRPr lang="en-US" sz="5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thaSathi Brand">
  <a:themeElements>
    <a:clrScheme name="PathaSathi Brand">
      <a:dk1>
        <a:srgbClr val="0F172A"/>
      </a:dk1>
      <a:lt1>
        <a:srgbClr val="FFFFFF"/>
      </a:lt1>
      <a:dk2>
        <a:srgbClr val="3A1A10"/>
      </a:dk2>
      <a:lt2>
        <a:srgbClr val="FFFAF8"/>
      </a:lt2>
      <a:accent1>
        <a:srgbClr val="E05236"/>
      </a:accent1>
      <a:accent2>
        <a:srgbClr val="F59E0B"/>
      </a:accent2>
      <a:accent3>
        <a:srgbClr val="C04A22"/>
      </a:accent3>
      <a:accent4>
        <a:srgbClr val="F97316"/>
      </a:accent4>
      <a:accent5>
        <a:srgbClr val="94A3B8"/>
      </a:accent5>
      <a:accent6>
        <a:srgbClr val="8C3015"/>
      </a:accent6>
      <a:hlink>
        <a:srgbClr val="C04A22"/>
      </a:hlink>
      <a:folHlink>
        <a:srgbClr val="94A3B8"/>
      </a:folHlink>
    </a:clrScheme>
    <a:fontScheme name="PathaSathi Brand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780</TotalTime>
  <Words>2546</Words>
  <Application>Microsoft Macintosh PowerPoint</Application>
  <PresentationFormat>Widescreen</PresentationFormat>
  <Paragraphs>881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8" baseType="lpstr">
      <vt:lpstr>Arial</vt:lpstr>
      <vt:lpstr>PathaSathi Brand</vt:lpstr>
      <vt:lpstr>PathaSathi 6-month launch plan</vt:lpstr>
      <vt:lpstr>Summary</vt:lpstr>
      <vt:lpstr>Operating model</vt:lpstr>
      <vt:lpstr>Build roadmap</vt:lpstr>
      <vt:lpstr>Staged hiring gates</vt:lpstr>
      <vt:lpstr>Headcount by month</vt:lpstr>
      <vt:lpstr>Dhaka tech team: 5 people by function</vt:lpstr>
      <vt:lpstr>Dhaka tech team: salary cost by function</vt:lpstr>
      <vt:lpstr>New York team</vt:lpstr>
      <vt:lpstr>New York team: monthly cost by role</vt:lpstr>
      <vt:lpstr>Service data collection</vt:lpstr>
      <vt:lpstr>Other operating costs</vt:lpstr>
      <vt:lpstr>Computers and devices</vt:lpstr>
      <vt:lpstr>Monthly spend and cumulative budget</vt:lpstr>
      <vt:lpstr>Where the money goes</vt:lpstr>
      <vt:lpstr>Scenarios and sensitivity</vt:lpstr>
      <vt:lpstr>PowerPoint Presentation</vt:lpstr>
      <vt:lpstr>PathaSathi business model</vt:lpstr>
      <vt:lpstr>How merchants get onboarded</vt:lpstr>
      <vt:lpstr>After launch</vt:lpstr>
      <vt:lpstr>Merchant and customer growth</vt:lpstr>
      <vt:lpstr>First 6 months of revenue</vt:lpstr>
      <vt:lpstr>Five years revenue</vt:lpstr>
      <vt:lpstr>Break-even point</vt:lpstr>
      <vt:lpstr>Profit or loss</vt:lpstr>
      <vt:lpstr>                  Thank you</vt:lpstr>
    </vt:vector>
  </TitlesOfParts>
  <Company>PathaSathi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PathaSathi 6-month launch plan</dc:title>
  <dc:subject>PptxGenJS Presentation</dc:subject>
  <dc:creator>PathaSathi</dc:creator>
  <cp:lastModifiedBy>Zotish</cp:lastModifiedBy>
  <cp:revision>6</cp:revision>
  <dcterms:created xsi:type="dcterms:W3CDTF">2026-10-10T13:40:37Z</dcterms:created>
  <dcterms:modified xsi:type="dcterms:W3CDTF">2026-10-13T18:31:19Z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2026-10-10T16:48:38Z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93bc23e1-20f4-4652-8c77-e6af90e8526f</vt:lpwstr>
  </property>
  <property fmtid="{D5CDD505-2E9C-101B-9397-08002B2CF9AE}" pid="7" name="MSIP_Label_defa4170-0d19-0005-0004-bc88714345d2_ActionId">
    <vt:lpwstr>86c9b632-ec91-4089-ba32-03af7f0ddabe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