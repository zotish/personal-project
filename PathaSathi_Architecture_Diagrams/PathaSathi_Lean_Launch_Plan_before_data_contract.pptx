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C9E440E4-774E-C865-8171-FEB9E36CBE02}">
          <p14:sldIdLst>
            <p14:sldId id="256"/>
            <p14:sldId id="257"/>
          </p14:sldIdLst>
        </p14:section>
        <p14:section name="Plan and team" id="{E988E85B-C2A1-FF5B-8DEA-6E4367DA512F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Budget" id="{48DDBF5A-1BAE-0584-E85D-A29115F25B7A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Business and growth" id="{18C37434-EC17-63BC-E93D-BB85928C8D0E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Close" id="{F36BACC0-D41E-2BDF-DE47-33A37A754086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Dhaka tech team</c:v>
                </c:pt>
              </c:strCache>
            </c:strRef>
          </c:tx>
          <c:spPr>
            <a:solidFill>
              <a:srgbClr val="E0523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25-9A42-8B30-1919CB8BAD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York team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9</c:v>
                </c:pt>
                <c:pt idx="3">
                  <c:v>17</c:v>
                </c:pt>
                <c:pt idx="4">
                  <c:v>27</c:v>
                </c:pt>
                <c:pt idx="5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25-9A42-8B30-1919CB8BAD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2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6.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Dhaka tech team</c:v>
                </c:pt>
              </c:strCache>
            </c:strRef>
          </c:tx>
          <c:spPr>
            <a:solidFill>
              <a:srgbClr val="C04A2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0F172A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B3-604B-8915-EBCE306FFD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York team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0F172A"/>
                    </a:solidFill>
                    <a:latin typeface="+mn-lt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9</c:v>
                </c:pt>
                <c:pt idx="3">
                  <c:v>17</c:v>
                </c:pt>
                <c:pt idx="4">
                  <c:v>27</c:v>
                </c:pt>
                <c:pt idx="5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B3-604B-8915-EBCE306FFD2A}"/>
            </c:ext>
          </c:extLst>
        </c:ser>
        <c:dLbls>
          <c:numFmt formatCode="#,##0" sourceLinked="0"/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6.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Dhaka tech team</c:v>
                </c:pt>
              </c:strCache>
            </c:strRef>
          </c:tx>
          <c:spPr>
            <a:solidFill>
              <a:srgbClr val="C04A2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4400</c:v>
                </c:pt>
                <c:pt idx="1">
                  <c:v>4400</c:v>
                </c:pt>
                <c:pt idx="2">
                  <c:v>4400</c:v>
                </c:pt>
                <c:pt idx="3">
                  <c:v>4400</c:v>
                </c:pt>
                <c:pt idx="4">
                  <c:v>4400</c:v>
                </c:pt>
                <c:pt idx="5">
                  <c:v>4400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66-6C4E-A1A5-4E4406E85DB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York team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20131</c:v>
                </c:pt>
                <c:pt idx="3">
                  <c:v>36462</c:v>
                </c:pt>
                <c:pt idx="4">
                  <c:v>59793</c:v>
                </c:pt>
                <c:pt idx="5">
                  <c:v>74493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66-6C4E-A1A5-4E4406E85DB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 operating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15401</c:v>
                </c:pt>
                <c:pt idx="1">
                  <c:v>3350</c:v>
                </c:pt>
                <c:pt idx="2">
                  <c:v>11221</c:v>
                </c:pt>
                <c:pt idx="3">
                  <c:v>15319</c:v>
                </c:pt>
                <c:pt idx="4">
                  <c:v>26127</c:v>
                </c:pt>
                <c:pt idx="5">
                  <c:v>35098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366-6C4E-A1A5-4E4406E85DB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Contingency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1980</c:v>
                </c:pt>
                <c:pt idx="1">
                  <c:v>775</c:v>
                </c:pt>
                <c:pt idx="2">
                  <c:v>3575</c:v>
                </c:pt>
                <c:pt idx="3">
                  <c:v>5618</c:v>
                </c:pt>
                <c:pt idx="4">
                  <c:v>9032</c:v>
                </c:pt>
                <c:pt idx="5">
                  <c:v>11399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366-6C4E-A1A5-4E4406E85D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390.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0F172A"/>
                </a:solidFill>
                <a:latin typeface="+mn-lt"/>
              </a:defRPr>
            </a:pPr>
            <a:r>
              <a:rPr lang="en-US" sz="1400" b="1" i="0" u="none" strike="noStrike">
                <a:solidFill>
                  <a:srgbClr val="0F172A"/>
                </a:solidFill>
                <a:latin typeface="+mn-lt"/>
              </a:rPr>
              <a:t>Active customers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customers</c:v>
                </c:pt>
              </c:strCache>
            </c:strRef>
          </c:tx>
          <c:spPr>
            <a:solidFill>
              <a:srgbClr val="E0523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Beta</c:v>
                </c:pt>
                <c:pt idx="1">
                  <c:v>Month 12</c:v>
                </c:pt>
                <c:pt idx="2">
                  <c:v>Year 1</c:v>
                </c:pt>
                <c:pt idx="3">
                  <c:v>Year 2</c:v>
                </c:pt>
                <c:pt idx="4">
                  <c:v>Year 3</c:v>
                </c:pt>
                <c:pt idx="5">
                  <c:v>Year 4</c:v>
                </c:pt>
                <c:pt idx="6">
                  <c:v>Year 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2000</c:v>
                </c:pt>
                <c:pt idx="1">
                  <c:v>12530</c:v>
                </c:pt>
                <c:pt idx="2">
                  <c:v>27990</c:v>
                </c:pt>
                <c:pt idx="3">
                  <c:v>67890</c:v>
                </c:pt>
                <c:pt idx="4">
                  <c:v>115870</c:v>
                </c:pt>
                <c:pt idx="5">
                  <c:v>162550</c:v>
                </c:pt>
                <c:pt idx="6">
                  <c:v>202900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8E-EF4C-965D-1B2C2F94AE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0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1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3A1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143000"/>
            <a:ext cx="5760720" cy="2651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5000"/>
              </a:lnSpc>
              <a:buNone/>
              <a:defRPr lang="en-US" sz="5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lnSpc>
                <a:spcPct val="95000"/>
              </a:lnSpc>
              <a:buNone/>
            </a:pPr>
            <a:endParaRPr lang="en-US" sz="5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4069080"/>
            <a:ext cx="539496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F2D3C8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GREY">
    <p:bg>
      <p:bgPr>
        <a:solidFill>
          <a:srgbClr val="FD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DING">
    <p:bg>
      <p:bgPr>
        <a:solidFill>
          <a:srgbClr val="E05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3A1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52176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52044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F2D3C8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143000"/>
            <a:ext cx="5760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5600" b="1" dirty="0">
                <a:solidFill>
                  <a:schemeClr val="accent1"/>
                </a:solidFill>
              </a:rPr>
              <a:t>PathaSathi</a:t>
            </a:r>
            <a:endParaRPr lang="en-US" sz="56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5600" b="1" dirty="0">
                <a:solidFill>
                  <a:schemeClr val="bg1"/>
                </a:solidFill>
              </a:rPr>
              <a:t>6-month</a:t>
            </a:r>
            <a:endParaRPr lang="en-US" sz="56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5600" b="1" dirty="0">
                <a:solidFill>
                  <a:schemeClr val="bg1"/>
                </a:solidFill>
              </a:rPr>
              <a:t>launch plan</a:t>
            </a:r>
            <a:endParaRPr lang="en-US" sz="5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406908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F2D3C8"/>
                </a:solidFill>
              </a:rPr>
              <a:t>A 5-person tech team in Dhaka, a staged business and operations team in New York, and the monthly cost of each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76036" y="15469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D3C8"/>
                </a:solidFill>
              </a:rPr>
              <a:t>Team size by month: 5 people at kickoff, 36 by Month 6</a:t>
            </a:r>
            <a:endParaRPr lang="en-US" sz="1400" dirty="0"/>
          </a:p>
        </p:txBody>
      </p:sp>
      <p:graphicFrame>
        <p:nvGraphicFramePr>
          <p:cNvPr id="6" name="Team size chart"/>
          <p:cNvGraphicFramePr/>
          <p:nvPr/>
        </p:nvGraphicFramePr>
        <p:xfrm>
          <a:off x="6766560" y="2788920"/>
          <a:ext cx="42976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Summary</a:t>
            </a:r>
            <a:endParaRPr lang="en-US" sz="4000" dirty="0"/>
          </a:p>
        </p:txBody>
      </p:sp>
      <p:sp>
        <p:nvSpPr>
          <p:cNvPr id="3" name="Budget card"/>
          <p:cNvSpPr/>
          <p:nvPr/>
        </p:nvSpPr>
        <p:spPr>
          <a:xfrm>
            <a:off x="822960" y="1828800"/>
            <a:ext cx="4069080" cy="3172968"/>
          </a:xfrm>
          <a:prstGeom prst="roundRect">
            <a:avLst>
              <a:gd name="adj" fmla="val 230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78992" y="2121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SIX-MONTH BUDGET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2743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</a:rPr>
              <a:t>$356.2K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40690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DDD5"/>
                </a:solidFill>
              </a:rPr>
              <a:t>All-in, including 10% contingency. Average $59.4K per month, peaking at $125.4K in Month 6.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20640" y="1828800"/>
            <a:ext cx="2990088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120640" y="201168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3"/>
                </a:solidFill>
              </a:rPr>
              <a:t>5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2615184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people in the Dhaka tech team, Project Manager included, fixed for all six months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85048" y="1828800"/>
            <a:ext cx="2990088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385048" y="201168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3"/>
                </a:solidFill>
              </a:rPr>
              <a:t>31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613648" y="2615184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New York hires by Month 6: 10 business and ops staff, 21 part-time service data associates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0" y="3502152"/>
            <a:ext cx="6254496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120640" y="3749040"/>
            <a:ext cx="6254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3"/>
                </a:solidFill>
              </a:rPr>
              <a:t>$128K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4389120"/>
            <a:ext cx="6254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monthly run-rate from Month 7 with a team of 36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5257800"/>
            <a:ext cx="6144999" cy="749808"/>
          </a:xfrm>
          <a:prstGeom prst="roundRect">
            <a:avLst>
              <a:gd name="adj" fmla="val 9756"/>
            </a:avLst>
          </a:prstGeom>
          <a:solidFill>
            <a:srgbClr val="FEE7DF"/>
          </a:solidFill>
          <a:ln w="9525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078992" y="5257800"/>
            <a:ext cx="575007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3"/>
                </a:solidFill>
              </a:rPr>
              <a:t>Pilot target  </a:t>
            </a:r>
            <a:r>
              <a:rPr lang="en-US" sz="1600" dirty="0">
                <a:solidFill>
                  <a:schemeClr val="tx1"/>
                </a:solidFill>
              </a:rPr>
              <a:t>150–200 merchants serving 1,500–2,000 customers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Operating model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4818888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97280" y="2240280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Dhaka: tech team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834640"/>
            <a:ext cx="4270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Project management : 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Backend development : 2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Frontend and mobile app : 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QA, DevOps and cloud :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5047488"/>
            <a:ext cx="4270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Total salaries, 5 people : $26,400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5468112"/>
            <a:ext cx="427024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56248" y="1828800"/>
            <a:ext cx="4818888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830568" y="2240280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New York: business and ops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830568" y="2834640"/>
            <a:ext cx="42702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Operations : Operations Manager (leads New York)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Finance : Finance and Compliance (part-time)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Growth : 3 Sales Executives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Merchant success : support agents, field officers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Service data : 21 associates, one per service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Advisory : US legal and fintech retainer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30568" y="5047488"/>
            <a:ext cx="4270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Total salaries, 31 people : $190,879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30568" y="5468112"/>
            <a:ext cx="427024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824728" y="3474720"/>
            <a:ext cx="548640" cy="292608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824728" y="3931920"/>
            <a:ext cx="548640" cy="292608"/>
          </a:xfrm>
          <a:prstGeom prst="lef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Build roadmap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709160" y="182880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Month 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820156" y="182880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Month 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931152" y="182880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Month 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042148" y="182880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Month 4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53144" y="182880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Month 5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264140" y="182880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Month 6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240280"/>
            <a:ext cx="1055217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60120" y="2240280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   Discovery, DB schema and UX spec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633472"/>
            <a:ext cx="10552176" cy="393192"/>
          </a:xfrm>
          <a:prstGeom prst="rect">
            <a:avLst/>
          </a:prstGeom>
          <a:solidFill>
            <a:srgbClr val="FFF4F0"/>
          </a:solidFill>
          <a:ln w="12700">
            <a:solidFill>
              <a:srgbClr val="FF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60120" y="2633472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   Multi-tenant backend and auth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026664"/>
            <a:ext cx="1055217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60120" y="3026664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3   Core engine: directory, map, feed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419856"/>
            <a:ext cx="10552176" cy="393192"/>
          </a:xfrm>
          <a:prstGeom prst="rect">
            <a:avLst/>
          </a:prstGeom>
          <a:solidFill>
            <a:srgbClr val="FFF4F0"/>
          </a:solidFill>
          <a:ln w="12700">
            <a:solidFill>
              <a:srgbClr val="FF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60120" y="3419856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4   Marketplace: catalogue, cart, checkout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3813048"/>
            <a:ext cx="1055217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60120" y="3813048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5   Stripe payments, maps and courier APIs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206240"/>
            <a:ext cx="10552176" cy="393192"/>
          </a:xfrm>
          <a:prstGeom prst="rect">
            <a:avLst/>
          </a:prstGeom>
          <a:solidFill>
            <a:srgbClr val="FFF4F0"/>
          </a:solidFill>
          <a:ln w="12700">
            <a:solidFill>
              <a:srgbClr val="FF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960120" y="4206240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6   AI assistant, notifications, marketing hub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4599432"/>
            <a:ext cx="1055217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60120" y="4599432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7   QA and beta: 150–200 merchants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4992624"/>
            <a:ext cx="10552176" cy="393192"/>
          </a:xfrm>
          <a:prstGeom prst="rect">
            <a:avLst/>
          </a:prstGeom>
          <a:solidFill>
            <a:srgbClr val="FFF4F0"/>
          </a:solidFill>
          <a:ln w="12700">
            <a:solidFill>
              <a:srgbClr val="FF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960120" y="4992624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8   Launch: onboard 1,500–2,000 customers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09160" y="2286000"/>
            <a:ext cx="769151" cy="301752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4709160" y="2286000"/>
            <a:ext cx="7691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 wks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78311" y="2679192"/>
            <a:ext cx="769151" cy="301752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5478311" y="2679192"/>
            <a:ext cx="7691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 wks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47462" y="3072384"/>
            <a:ext cx="1025535" cy="301752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6247462" y="3072384"/>
            <a:ext cx="1025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 wks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272997" y="3465576"/>
            <a:ext cx="769151" cy="301752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272997" y="3465576"/>
            <a:ext cx="7691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 wks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042148" y="3858768"/>
            <a:ext cx="769151" cy="301752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8042148" y="3858768"/>
            <a:ext cx="7691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 wks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811299" y="4251960"/>
            <a:ext cx="769151" cy="301752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8811299" y="4251960"/>
            <a:ext cx="7691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 wks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495844" y="4645152"/>
            <a:ext cx="769151" cy="301752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9495844" y="4645152"/>
            <a:ext cx="76915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 wks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10862369" y="5038344"/>
            <a:ext cx="512767" cy="301752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10862369" y="5038344"/>
            <a:ext cx="51276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 wks</a:t>
            </a:r>
            <a:endParaRPr lang="en-US" sz="14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Staged hiring gates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055217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05840" y="1828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Kickoff · Day 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18288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Funding in place and US company (Delaware C-corp, NY registration) set up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828800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Releases Month 1 hires. Dhaka: the full team of 5. No New York hires yet.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532888"/>
            <a:ext cx="1055217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5328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G1 · end of M1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53288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Discovery done: database schema and UX spec signed off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532888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new hires. Founders build the merchant, partner and community pipeline.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236976"/>
            <a:ext cx="1055217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323697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G2 · end of M2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236976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Multi-tenant backend and auth demoed end to end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236976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Releases Month 3 hires. Operations Manager, Finance (part-time), 7 data associates.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941064"/>
            <a:ext cx="1055217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005840" y="394106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G3 · end of M3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3941064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Directory, map and marketplace working in staging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941064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Releases Month 4 hires. First Sales Executive, 7 data associates.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645152"/>
            <a:ext cx="1055217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1005840" y="464515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G4 · end of M4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2834640" y="464515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Stripe, maps and courier sandboxes passing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645152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Releases Month 5 hires. 2 support agents, 2nd Sales Executive, 7 data associates.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5349240"/>
            <a:ext cx="1055217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005840" y="5349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G5 · end of M5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2834640" y="53492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Beta live: 150–200 merchants, 1,500–2,000 customers, 21 directories filled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5349240"/>
            <a:ext cx="4791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Releases Month 6 hires. 3rd Sales Executive, 3rd support agent, 2 field officers.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Headcount by month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83664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97280" y="18288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Dhaka tech team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1883664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474720" y="18288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New York team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8288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Total people at the end of each bar · who joins, at far right</a:t>
            </a:r>
            <a:endParaRPr lang="en-US" sz="1400" dirty="0"/>
          </a:p>
        </p:txBody>
      </p:sp>
      <p:graphicFrame>
        <p:nvGraphicFramePr>
          <p:cNvPr id="8" name="Headcount chart"/>
          <p:cNvGraphicFramePr/>
          <p:nvPr/>
        </p:nvGraphicFramePr>
        <p:xfrm>
          <a:off x="1874520" y="2286000"/>
          <a:ext cx="2743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822960" y="22860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Month 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800600" y="22860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623560" y="22860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Dhaka </a:t>
            </a:r>
            <a:r>
              <a:rPr lang="en-US" sz="1400" dirty="0">
                <a:solidFill>
                  <a:schemeClr val="tx1"/>
                </a:solidFill>
              </a:rPr>
              <a:t>Full team of 5. No New York hires yet.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8803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Month 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800600" y="28803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623560" y="288036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new hires. Dhaka stays at 5.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474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Month 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34747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14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623560" y="347472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New York </a:t>
            </a:r>
            <a:r>
              <a:rPr lang="en-US" sz="1400" dirty="0">
                <a:solidFill>
                  <a:schemeClr val="tx1"/>
                </a:solidFill>
              </a:rPr>
              <a:t>Operations Manager, Finance (part-time), 7 data associates.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40690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Month 4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800600" y="40690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22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3560" y="406908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New York </a:t>
            </a:r>
            <a:r>
              <a:rPr lang="en-US" sz="1400" dirty="0">
                <a:solidFill>
                  <a:schemeClr val="tx1"/>
                </a:solidFill>
              </a:rPr>
              <a:t>First Sales Executive, 7 data associates.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6634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Month 5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4800600" y="46634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32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623560" y="466344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New York </a:t>
            </a:r>
            <a:r>
              <a:rPr lang="en-US" sz="1400" dirty="0">
                <a:solidFill>
                  <a:schemeClr val="tx1"/>
                </a:solidFill>
              </a:rPr>
              <a:t>2 support agents, 2nd Sales Executive, 7 data associates.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52578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Month 6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4800600" y="52578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36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623560" y="52578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New York </a:t>
            </a:r>
            <a:r>
              <a:rPr lang="en-US" sz="1400" dirty="0">
                <a:solidFill>
                  <a:schemeClr val="tx1"/>
                </a:solidFill>
              </a:rPr>
              <a:t>3rd Sales Executive, 3rd support agent, 2 field officers.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Dhaka tech team: 5 people by function</a:t>
            </a:r>
            <a:endParaRPr lang="en-US" sz="4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2420112"/>
        </p:xfrm>
        <a:graphic>
          <a:graphicData uri="http://schemas.openxmlformats.org/drawingml/2006/table">
            <a:tbl>
              <a:tblPr/>
              <a:tblGrid>
                <a:gridCol w="333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7101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Salary BDT/m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Salary USD/m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Person-months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Manager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Developer (×2)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 and mobile app Developer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QA, DevOps and Cloud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people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Dhaka tech team: salary cost by function</a:t>
            </a:r>
            <a:endParaRPr lang="en-US" sz="4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2304288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6-month total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Manager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Developer (×2)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 and mobile app Developer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4,200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QA, DevOps and Cloud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tech salaries (US$)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New York team</a:t>
            </a:r>
            <a:endParaRPr lang="en-US" sz="4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2779776"/>
        </p:xfrm>
        <a:graphic>
          <a:graphicData uri="http://schemas.openxmlformats.org/drawingml/2006/table">
            <a:tbl>
              <a:tblPr/>
              <a:tblGrid>
                <a:gridCol w="35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 basis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Salary USD/m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 Manager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$66K /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 and Compliance (part-time)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$30K /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Executive (merchant acquisition)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$50K /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4,200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 Agent (Bangla + English)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$42K /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Support Officer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$42K /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Data Associate (part-time)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$20/hr × 20 hrs/wk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1,733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headcount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New York team: monthly cost by role</a:t>
            </a:r>
            <a:endParaRPr lang="en-US" sz="4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2779776"/>
        </p:xfrm>
        <a:graphic>
          <a:graphicData uri="http://schemas.openxmlformats.org/drawingml/2006/table">
            <a:tbl>
              <a:tblPr/>
              <a:tblGrid>
                <a:gridCol w="352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710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6-month total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 Manager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 and Compliance (part-time)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Executive (merchant acquisition)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4,200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25,200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 Agent (Bangla + English)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Support Officer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Data Associate (part-time)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12,131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24,262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36,393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36,393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109,179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New York team (US$)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20,131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36,462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59,793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74,493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190,879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Service data team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51560" y="19659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21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services in the app, one Service Data Associate each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4290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51560" y="3429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$1,733 per month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part-time: $20/hour × 20 hours a week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51560" y="4526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$109,179 in six months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63 person-months, full-time from Year 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23360" y="1828800"/>
            <a:ext cx="2267712" cy="3611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06240" y="20116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206240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Joins Month 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42316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Essentials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926080"/>
            <a:ext cx="194767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Jobs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Housing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Free food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Legal aid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Hospitals and clinics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Pharmacy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Embassy and consulate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65392" y="1828800"/>
            <a:ext cx="2267712" cy="3611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48272" y="20116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 w="12700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748272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Joins Month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48272" y="242316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Daily life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748272" y="2926080"/>
            <a:ext cx="194767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Halal food and restaurants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Grocery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Education and ESL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Transit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Religion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Social aid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Free medicine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07424" y="1828800"/>
            <a:ext cx="2267712" cy="36118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290304" y="20116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 w="12700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290304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Joins Month 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290304" y="242316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Marketplace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290304" y="2926080"/>
            <a:ext cx="194767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Money exchange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Travel and flights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Cars and auto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Electronics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Furniture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Gas and EV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Sports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Other operating costs</a:t>
            </a:r>
            <a:endParaRPr lang="en-US" sz="4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253826"/>
              </p:ext>
            </p:extLst>
          </p:nvPr>
        </p:nvGraphicFramePr>
        <p:xfrm>
          <a:off x="822960" y="1828800"/>
          <a:ext cx="10552176" cy="4114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6-month 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hosting and APIs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Scales with merchants: $300 in M1 to $2,500 in M6 (hosting, maps, AI)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 tools: AI, design, testing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$300/mo: AI tools $120, Figma $45, BrowserStack $50, GitHub/Jira/Slack $85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collection tools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 per data associate per month: Airtable, forms, VoIP calling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1,575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Dhaka workspace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 per person per month: desk and internet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York co-working (Queens)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$350 per desk per month for full- and part-time office staff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7,350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Go-to-market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Ads, SMS, merchant demos and community events from M4: $1,500 to $6,500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 and fintech advisory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$2,000/mo US counsel retainer plus $5,000 company set-up in M1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insurance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liability and cyber cover, $400 per month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transit (OMNY)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$135 per month for data associates, sales and field staff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9,585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Computers and devices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MacBooks, 5 laptops, 26 tablets, 5 printers, 2 phones, 3 headsets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Dhaka–New York travel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trips at $3,000: discovery in M1 and launch in M6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payroll taxes (10%)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Employer FICA, unemployment insurance and workers' comp on US wages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19,087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stipend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 per month for each full-time US employee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operating costs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106,516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27432" marB="2743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Computers and devices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33345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51560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8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596896"/>
            <a:ext cx="2877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computers: 3 MacBook Air in Dhaka, 5 office laptops in New York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31792" y="1828800"/>
            <a:ext cx="33345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660392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US$1,065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660392" y="2596896"/>
            <a:ext cx="2877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per computer: MacBook Air US$1,341, New York laptop US$899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0624" y="1828800"/>
            <a:ext cx="33345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69224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US$14,919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269224" y="2596896"/>
            <a:ext cx="2877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all devices, one-time, bought only when each person joins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429000"/>
          <a:ext cx="10552176" cy="248716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Bought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US$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US$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MacBook Air M3 (16GB, 1TB)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Dhaka developers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4,023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Android test phone (Galaxy A06)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Dhaka QA testing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 laptop (i5, 16GB, 512GB)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operations, finance, support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M3, M5–M6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Android tablet (Galaxy Tab A9+)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associates, sales, field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M3–M6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5,720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Bluetooth receipt printer (58mm)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 demo kits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M4–M6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USB headset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 agents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M5–M6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14,919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Monthly spend and cumulative budget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83664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97280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Dhaka tech team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71800" y="1883664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246120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New York team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20640" y="1883664"/>
            <a:ext cx="182880" cy="18288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394960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Other operating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269480" y="188366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543800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Contingency</a:t>
            </a:r>
            <a:endParaRPr lang="en-US" sz="1400" dirty="0"/>
          </a:p>
        </p:txBody>
      </p:sp>
      <p:graphicFrame>
        <p:nvGraphicFramePr>
          <p:cNvPr id="11" name="Monthly spend chart"/>
          <p:cNvGraphicFramePr/>
          <p:nvPr/>
        </p:nvGraphicFramePr>
        <p:xfrm>
          <a:off x="1874520" y="2331720"/>
          <a:ext cx="539496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822960" y="2331720"/>
            <a:ext cx="100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1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233172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$21.8K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823960" y="233172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Cumulative $21.8K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2903220"/>
            <a:ext cx="100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2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290322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$8.5K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823960" y="290322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Cumulative $30.3K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3474720"/>
            <a:ext cx="100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3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589520" y="347472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$39.3K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823960" y="347472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Cumulative $69.6K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046220"/>
            <a:ext cx="100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4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7589520" y="404622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$61.8K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8823960" y="404622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Cumulative $131.4K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4617720"/>
            <a:ext cx="100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5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7589520" y="461772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$99.4K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8823960" y="461772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Cumulative $230.8K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5189220"/>
            <a:ext cx="1005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6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7589520" y="518922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$125.4K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8823960" y="518922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Cumulative $356.2K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Where the money goes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782139" cy="60350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7821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7.4%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605099" y="1828800"/>
            <a:ext cx="5655070" cy="6035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605099" y="1828800"/>
            <a:ext cx="565507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53.6%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60169" y="1828800"/>
            <a:ext cx="3155692" cy="603504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260169" y="1828800"/>
            <a:ext cx="31556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29.9%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15861" y="1828800"/>
            <a:ext cx="959275" cy="6035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0415861" y="1828800"/>
            <a:ext cx="9592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9.1%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2697480"/>
            <a:ext cx="24323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24128" y="2953512"/>
            <a:ext cx="164592" cy="16459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280160" y="288036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Dhaka tech salaries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326440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$26,400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3831336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5 people × 6 months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29584" y="2697480"/>
            <a:ext cx="24323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30752" y="2953512"/>
            <a:ext cx="164592" cy="164592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986784" y="288036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New York team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730752" y="326440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$190,879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3730752" y="3831336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84 person-months: 21 staff, 63 part-time data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36208" y="2697480"/>
            <a:ext cx="24323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37376" y="2953512"/>
            <a:ext cx="164592" cy="164592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693408" y="288036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Other operating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37376" y="326440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$106,516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437376" y="3831336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Payroll taxes, devices, legal, office, transit, cloud, marketing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942832" y="2697480"/>
            <a:ext cx="243230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44000" y="295351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9400032" y="288036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Contingency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0" y="326440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$32,379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3831336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10% of all costs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Scenarios and sensitivity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Hybrid lean base: this plan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762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Dhaka tech + New York business, ops and data team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74920" y="1874520"/>
            <a:ext cx="2624895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74920" y="1874520"/>
            <a:ext cx="262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$356K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2491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Premium talent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723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+40% Dhaka salaries and +25% New York pay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74920" y="2770632"/>
            <a:ext cx="3136035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074920" y="2770632"/>
            <a:ext cx="31360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$426K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210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Full-time data team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9684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21 data associates at 40 hours a week from day 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74920" y="3666744"/>
            <a:ext cx="3802772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074920" y="3666744"/>
            <a:ext cx="3802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$516K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171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All-US engineering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646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5 New York engineers at about $150K a year each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74920" y="4562856"/>
            <a:ext cx="5852160" cy="4572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074920" y="456285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$794K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tx1"/>
                </a:solidFill>
              </a:rPr>
              <a:t>FUNDING REQUIREMENT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chemeClr val="tx1"/>
                </a:solidFill>
              </a:rPr>
              <a:t>$739K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6177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completes the six-month build and funds Months 7–9 at the launch run-rate, with no revenue assumed.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303520" y="2743200"/>
            <a:ext cx="6071616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532120" y="274320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Month 6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12280" y="274320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$356.2K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274320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Build complete, 36 people, beta live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3502152"/>
            <a:ext cx="6071616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532120" y="350215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Month 9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3502152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$739K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35021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Three months of runway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0" y="4261104"/>
            <a:ext cx="6071616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532120" y="4261104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Month 12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4261104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$1.12M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426110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Six months of runway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PathaSathi business model</a:t>
            </a:r>
            <a:endParaRPr lang="en-US" sz="4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160934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0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per month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merchant gets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 listing, basic catalogue, 1 user, with ads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catalogue and orders, verified badge, customer SMS reminders, reports, no ads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Multi-staff, online storefront and delivery, marketing hub, AI advice, priority listing, no ads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22960" y="3703320"/>
            <a:ext cx="333451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51560" y="3959352"/>
            <a:ext cx="287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Payment commission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4361688"/>
            <a:ext cx="2877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0.5% on online payments via Stripe Connect split payments, on top of Stripe's own fee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431792" y="3703320"/>
            <a:ext cx="333451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660392" y="3959352"/>
            <a:ext cx="287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SMS credits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660392" y="4361688"/>
            <a:ext cx="2877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Bulk SMS resold with a small margin, about US$1.50 per paid merchant per month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40624" y="3703320"/>
            <a:ext cx="333451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269224" y="3959352"/>
            <a:ext cx="2877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69224" y="4361688"/>
            <a:ext cx="2877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Banner ads for customers and free-plan merchants only, never at checkout: about US$0.08 per active customer a month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How merchants get onboarded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876349" cy="306324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87552" y="20116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875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44752" y="2011680"/>
            <a:ext cx="11448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Day 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514600"/>
            <a:ext cx="15837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Visit and demo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127248"/>
            <a:ext cx="158374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 10-minute demo on the merchant's phone, in the shop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50976" y="4453128"/>
            <a:ext cx="1620317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50976" y="4453128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Sales Executive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54173" y="2103120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91917" y="1828800"/>
            <a:ext cx="1876349" cy="306324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6509" y="20116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15650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13709" y="2011680"/>
            <a:ext cx="11448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Same day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156509" y="2514600"/>
            <a:ext cx="15837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Free sign-up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156509" y="3127248"/>
            <a:ext cx="158374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Merchant signs up with a phone number and a map pin on the Free plan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19933" y="4453128"/>
            <a:ext cx="1620317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119933" y="4453128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Sales Executive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23130" y="2103120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160874" y="1828800"/>
            <a:ext cx="1876349" cy="306324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25466" y="20116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32546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782666" y="2011680"/>
            <a:ext cx="11448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Days 1–3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325466" y="2514600"/>
            <a:ext cx="15837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Shop set-up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325466" y="3127248"/>
            <a:ext cx="158374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Products added by barcode or AI photo scan, plus prices, delivery zones and Stripe payouts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288890" y="4453128"/>
            <a:ext cx="1620317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5288890" y="4453128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Sales Executive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092086" y="2103120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29830" y="1828800"/>
            <a:ext cx="1876349" cy="306324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494422" y="20116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749442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951622" y="2011680"/>
            <a:ext cx="11448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First 30 days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494422" y="2514600"/>
            <a:ext cx="15837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Training and check-ins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494422" y="3127248"/>
            <a:ext cx="158374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Training in Bangla or English, check-ins in weeks 1 and 3; each merchant invites first 10 customers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457846" y="4453128"/>
            <a:ext cx="1620317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457846" y="4453128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Support Agent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261043" y="2103120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498787" y="1828800"/>
            <a:ext cx="1876349" cy="3063240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663379" y="2011680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966337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10120579" y="2011680"/>
            <a:ext cx="11448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Month 1–2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663379" y="2514600"/>
            <a:ext cx="15837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Upgrade to paid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9663379" y="3127248"/>
            <a:ext cx="158374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When the merchant needs a verified badge, SMS reminders or an online store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626803" y="4453128"/>
            <a:ext cx="1620317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 w="12700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9626803" y="4453128"/>
            <a:ext cx="16203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$19 or $49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822960" y="513892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Year 1 funnel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2514600" y="5138928"/>
            <a:ext cx="2651760" cy="713232"/>
          </a:xfrm>
          <a:prstGeom prst="roundRect">
            <a:avLst>
              <a:gd name="adj" fmla="val 7692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2679192" y="513892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3,795</a:t>
            </a:r>
            <a:endParaRPr lang="en-US" sz="2200" dirty="0"/>
          </a:p>
        </p:txBody>
      </p:sp>
      <p:sp>
        <p:nvSpPr>
          <p:cNvPr id="50" name="Text 48"/>
          <p:cNvSpPr txBox="1"/>
          <p:nvPr/>
        </p:nvSpPr>
        <p:spPr>
          <a:xfrm>
            <a:off x="3749040" y="5138928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merchants join and upgrade to paid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257800" y="5385816"/>
            <a:ext cx="228600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532120" y="5138928"/>
            <a:ext cx="2651760" cy="713232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5696712" y="513892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2,799</a:t>
            </a:r>
            <a:endParaRPr lang="en-US" sz="2200" dirty="0"/>
          </a:p>
        </p:txBody>
      </p:sp>
      <p:sp>
        <p:nvSpPr>
          <p:cNvPr id="54" name="Text 52"/>
          <p:cNvSpPr txBox="1"/>
          <p:nvPr/>
        </p:nvSpPr>
        <p:spPr>
          <a:xfrm>
            <a:off x="6766560" y="5138928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merchants still paying at year end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8275320" y="5385816"/>
            <a:ext cx="228600" cy="219456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549640" y="5138928"/>
            <a:ext cx="2651760" cy="713232"/>
          </a:xfrm>
          <a:prstGeom prst="roundRect">
            <a:avLst>
              <a:gd name="adj" fmla="val 769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8714232" y="513892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27,990</a:t>
            </a:r>
            <a:endParaRPr lang="en-US" sz="2200" dirty="0"/>
          </a:p>
        </p:txBody>
      </p:sp>
      <p:sp>
        <p:nvSpPr>
          <p:cNvPr id="58" name="Text 56"/>
          <p:cNvSpPr txBox="1"/>
          <p:nvPr/>
        </p:nvSpPr>
        <p:spPr>
          <a:xfrm>
            <a:off x="9784080" y="5138928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active customers (10 per merchant)</a:t>
            </a:r>
            <a:endParaRPr lang="en-US" sz="1300" dirty="0"/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After launch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2391156" cy="374904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" y="20116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2011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</a:rPr>
              <a:t>Months 5–6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23160"/>
            <a:ext cx="2025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Beta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944368"/>
            <a:ext cx="20711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150–200 beta merchants in Queens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1,500–2,000 customers, 10 per merchant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Jackson Heights, Jamaica, Ozone Park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Fix bugs from feedback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4681728"/>
            <a:ext cx="202539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4773168"/>
            <a:ext cx="2025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200 ready to pay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5084064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2,000 customers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87268" y="2066544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43300" y="1828800"/>
            <a:ext cx="2391156" cy="374904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26180" y="20116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 w="12700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726180" y="2011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Year 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26180" y="2423160"/>
            <a:ext cx="2025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New York City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726180" y="2944368"/>
            <a:ext cx="20711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Door-to-door merchant sales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Brooklyn and Bronx (Parkchester)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Bangla media, Facebook, TikTok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Referral: 1 free month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26180" y="4681728"/>
            <a:ext cx="202539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726180" y="4773168"/>
            <a:ext cx="2025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2,799 paid merchants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726180" y="5084064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27,990 customers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07608" y="2066544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63640" y="1828800"/>
            <a:ext cx="2391156" cy="374904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46520" y="20116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 w="12700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446520" y="2011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Year 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2423160"/>
            <a:ext cx="2025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NJ and Michigan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2944368"/>
            <a:ext cx="20711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Paterson, New Jersey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Detroit and Hamtramck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Mosque and community partners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WhatsApp broadcasts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46520" y="4681728"/>
            <a:ext cx="202539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446520" y="4773168"/>
            <a:ext cx="2025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6,789 paid merchants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5084064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67,890 customers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727948" y="2066544"/>
            <a:ext cx="182880" cy="18288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983980" y="1828800"/>
            <a:ext cx="2391156" cy="3749040"/>
          </a:xfrm>
          <a:prstGeom prst="roundRect">
            <a:avLst>
              <a:gd name="adj" fmla="val 3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166860" y="20116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EE7DF"/>
          </a:solidFill>
          <a:ln w="12700">
            <a:solidFill>
              <a:srgbClr val="FEE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9166860" y="2011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Years 3–5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166860" y="2423160"/>
            <a:ext cx="2025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Nationwide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9166860" y="2944368"/>
            <a:ext cx="20711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Atlanta, Texas, California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Other South Asian communities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Brand-sponsored ads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Annual plans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166860" y="4681728"/>
            <a:ext cx="202539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9166860" y="4773168"/>
            <a:ext cx="2025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20,290 paid merchants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9166860" y="5084064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202,900 customers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Merchant and customer growth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2926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51560" y="20116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1 : 10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8803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every active merchant serves about ten active customers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51560" y="37490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Beta  </a:t>
            </a:r>
            <a:r>
              <a:rPr lang="en-US" sz="1400" dirty="0">
                <a:solidFill>
                  <a:schemeClr val="tx1"/>
                </a:solidFill>
              </a:rPr>
              <a:t>150–200 merchants →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1,500–2,000 customers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51560" y="48463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Year 5  </a:t>
            </a:r>
            <a:r>
              <a:rPr lang="en-US" sz="1400" dirty="0">
                <a:solidFill>
                  <a:schemeClr val="tx1"/>
                </a:solidFill>
              </a:rPr>
              <a:t>20,290 merchants →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202,900 customers</a:t>
            </a:r>
            <a:endParaRPr lang="en-US" sz="1400" dirty="0"/>
          </a:p>
        </p:txBody>
      </p:sp>
      <p:graphicFrame>
        <p:nvGraphicFramePr>
          <p:cNvPr id="10" name="Customer growth chart"/>
          <p:cNvGraphicFramePr/>
          <p:nvPr/>
        </p:nvGraphicFramePr>
        <p:xfrm>
          <a:off x="3977640" y="1783080"/>
          <a:ext cx="7397496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4617720"/>
          <a:ext cx="7397496" cy="109728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23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23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23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23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23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150–200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6,789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11,587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16,255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20,290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1,500–2,000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27,990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67,890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115,870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162,550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202,900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First 6 months of revenue</a:t>
            </a:r>
            <a:endParaRPr lang="en-US" sz="4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3127248"/>
        </p:xfrm>
        <a:graphic>
          <a:graphicData uri="http://schemas.openxmlformats.org/drawingml/2006/table">
            <a:tbl>
              <a:tblPr/>
              <a:tblGrid>
                <a:gridCol w="1179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merchants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Paid merchants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Subscriptions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 + SMS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(US$)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127,520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−119,960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11,859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128,159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−112,964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17,910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22,949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128,842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−105,893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24,088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30,865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129,573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−98,708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1,031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10,310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30,428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38,989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130,357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−91,368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36,966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9,398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47,366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131,197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−83,831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1,467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127,151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32,326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3,448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162,924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775,648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−612,724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Five years revenue</a:t>
            </a:r>
            <a:endParaRPr lang="en-US" sz="4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52176" cy="27736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paid merchants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Paid merchants at year end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 at year end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Ads (US$)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(US$)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Avg/month (US$)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3,795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27,990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13,621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643,582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53,632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7,287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67,890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49,816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2,353,788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196,149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10,214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11,587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115,870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92,404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4,366,112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363,843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12,129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16,255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162,550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137,530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6,498,273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541,523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12,804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20,290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202,900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178,594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8,438,573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703,214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46,229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471,965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22,300,328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/>
              <a:t>B</a:t>
            </a:r>
            <a:r>
              <a:rPr lang="en-US" sz="4000" b="1" dirty="0">
                <a:solidFill>
                  <a:schemeClr val="tx1"/>
                </a:solidFill>
              </a:rPr>
              <a:t>reak-even point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333451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51560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US$127,520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596896"/>
            <a:ext cx="287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cost in launch month: team of 36 plus operating costs, rising as merchants grow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31792" y="1828800"/>
            <a:ext cx="333451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660392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US$37.80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660392" y="2596896"/>
            <a:ext cx="287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monthly revenue per paid merchant, incl. US$0.80 from ads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0624" y="1828800"/>
            <a:ext cx="333451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69224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~8,271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269224" y="2596896"/>
            <a:ext cx="28773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paid merchants (~82,710 customers) when revenue first covers costs, Month 27 after launch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611880"/>
          <a:ext cx="10552176" cy="1152144"/>
        </p:xfrm>
        <a:graphic>
          <a:graphicData uri="http://schemas.openxmlformats.org/drawingml/2006/table">
            <a:tbl>
              <a:tblPr/>
              <a:tblGrid>
                <a:gridCol w="4882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break-even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5-year revenue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case (this forecast)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27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US$22.3M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Conservative (half the merchant growth)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44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US$11.2M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658368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Profit or loss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333451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51560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+US$3.57M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596896"/>
            <a:ext cx="2877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cumulative profit after 5½ years, growth case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31792" y="1828800"/>
            <a:ext cx="333451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660392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Month 27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660392" y="2596896"/>
            <a:ext cx="2877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after launch: first month revenue covers costs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0624" y="1828800"/>
            <a:ext cx="333451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69224" y="2011680"/>
            <a:ext cx="287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−US$2.05M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269224" y="2596896"/>
            <a:ext cx="2877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lowest cumulative point, Month 26 after launch: the funding needed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291840"/>
          <a:ext cx="10552176" cy="2779776"/>
        </p:xfrm>
        <a:graphic>
          <a:graphicData uri="http://schemas.openxmlformats.org/drawingml/2006/table">
            <a:tbl>
              <a:tblPr/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Profit / loss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Cumulative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growth is half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356,174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−356,174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−356,174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−356,174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643,582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1,634,208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−990,626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−1,346,800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−1,551,410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2,353,788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3,016,164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−662,376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−2,009,176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−2,838,486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4,366,112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3,821,720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544,392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−1,464,784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−3,533,594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6,498,273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4,650,830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1,847,443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382,659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−3,628,445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8,438,573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5,250,573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3,188,000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3,570,659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−3,098,776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22,300,328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18,729,669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3,570,659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t/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−3,098,776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5056" y="623620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52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                  Thank </a:t>
            </a:r>
            <a:r>
              <a:rPr lang="en-US" sz="5400" b="1" dirty="0">
                <a:solidFill>
                  <a:schemeClr val="accent1"/>
                </a:solidFill>
              </a:rPr>
              <a:t>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haSathi Brand">
  <a:themeElements>
    <a:clrScheme name="PathaSathi Brand">
      <a:dk1>
        <a:srgbClr val="0F172A"/>
      </a:dk1>
      <a:lt1>
        <a:srgbClr val="FFFFFF"/>
      </a:lt1>
      <a:dk2>
        <a:srgbClr val="3A1A10"/>
      </a:dk2>
      <a:lt2>
        <a:srgbClr val="FFFAF8"/>
      </a:lt2>
      <a:accent1>
        <a:srgbClr val="E05236"/>
      </a:accent1>
      <a:accent2>
        <a:srgbClr val="F59E0B"/>
      </a:accent2>
      <a:accent3>
        <a:srgbClr val="C04A22"/>
      </a:accent3>
      <a:accent4>
        <a:srgbClr val="F97316"/>
      </a:accent4>
      <a:accent5>
        <a:srgbClr val="94A3B8"/>
      </a:accent5>
      <a:accent6>
        <a:srgbClr val="8C3015"/>
      </a:accent6>
      <a:hlink>
        <a:srgbClr val="C04A22"/>
      </a:hlink>
      <a:folHlink>
        <a:srgbClr val="94A3B8"/>
      </a:folHlink>
    </a:clrScheme>
    <a:fontScheme name="PathaSathi Bran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2716</Words>
  <Application>Microsoft Macintosh PowerPoint</Application>
  <PresentationFormat>Widescreen</PresentationFormat>
  <Paragraphs>949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Arial</vt:lpstr>
      <vt:lpstr>PathaSathi Brand</vt:lpstr>
      <vt:lpstr>PathaSathi 6-month launch plan</vt:lpstr>
      <vt:lpstr>Summary</vt:lpstr>
      <vt:lpstr>Operating model</vt:lpstr>
      <vt:lpstr>Build roadmap</vt:lpstr>
      <vt:lpstr>Staged hiring gates</vt:lpstr>
      <vt:lpstr>Headcount by month</vt:lpstr>
      <vt:lpstr>Dhaka tech team: 5 people by function</vt:lpstr>
      <vt:lpstr>Dhaka tech team: salary cost by function</vt:lpstr>
      <vt:lpstr>New York team</vt:lpstr>
      <vt:lpstr>New York team: monthly cost by role</vt:lpstr>
      <vt:lpstr>Service data team</vt:lpstr>
      <vt:lpstr>Other operating costs</vt:lpstr>
      <vt:lpstr>Computers and devices</vt:lpstr>
      <vt:lpstr>Monthly spend and cumulative budget</vt:lpstr>
      <vt:lpstr>Where the money goes</vt:lpstr>
      <vt:lpstr>Scenarios and sensitivity</vt:lpstr>
      <vt:lpstr>PowerPoint Presentation</vt:lpstr>
      <vt:lpstr>PathaSathi business model</vt:lpstr>
      <vt:lpstr>How merchants get onboarded</vt:lpstr>
      <vt:lpstr>After launch</vt:lpstr>
      <vt:lpstr>Merchant and customer growth</vt:lpstr>
      <vt:lpstr>First 6 months of revenue</vt:lpstr>
      <vt:lpstr>Five years revenue</vt:lpstr>
      <vt:lpstr>Break-even point</vt:lpstr>
      <vt:lpstr>Profit or loss</vt:lpstr>
      <vt:lpstr>                  Thank you</vt:lpstr>
    </vt:vector>
  </TitlesOfParts>
  <Company>PathaSathi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PathaSathi 6-month launch plan</dc:title>
  <dc:subject>PptxGenJS Presentation</dc:subject>
  <dc:creator>PathaSathi</dc:creator>
  <cp:lastModifiedBy>Zotish</cp:lastModifiedBy>
  <cp:revision>6</cp:revision>
  <dcterms:created xsi:type="dcterms:W3CDTF">2026-10-10T13:40:37Z</dcterms:created>
  <dcterms:modified xsi:type="dcterms:W3CDTF">2026-10-10T19:20:24Z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2026-10-10T16:48:38Z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93bc23e1-20f4-4652-8c77-e6af90e8526f</vt:lpwstr>
  </property>
  <property fmtid="{D5CDD505-2E9C-101B-9397-08002B2CF9AE}" pid="7" name="MSIP_Label_defa4170-0d19-0005-0004-bc88714345d2_ActionId">
    <vt:lpwstr>86c9b632-ec91-4089-ba32-03af7f0ddabe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