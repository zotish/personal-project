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9E440E4-774E-C865-8171-FEB9E36CBE02}">
          <p14:sldIdLst>
            <p14:sldId id="256"/>
            <p14:sldId id="257"/>
          </p14:sldIdLst>
        </p14:section>
        <p14:section name="Plan and team" id="{E988E85B-C2A1-FF5B-8DEA-6E4367DA512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udget" id="{48DDBF5A-1BAE-0584-E85D-A29115F25B7A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Business and growth" id="{18C37434-EC17-63BC-E93D-BB85928C8D0E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ose" id="{F36BACC0-D41E-2BDF-DE47-33A37A754086}">
          <p14:sldIdLst>
            <p14:sldId id="281"/>
          </p14:sldIdLst>
        </p14:section>
        <p14:section name="Appendix: Month 1 plan" id="{9AE8523E-6FFC-4666-9881-1F25D7EBEB1C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5-9A42-8B30-1919CB8BA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5-9A42-8B30-1919CB8BA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3-604B-8915-EBCE306FF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A1-BE4E-AD8C-70727A3FCBD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A1-BE4E-AD8C-70727A3FCBD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3-604B-8915-EBCE306FFD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4400</c:v>
                </c:pt>
                <c:pt idx="1">
                  <c:v>4400</c:v>
                </c:pt>
                <c:pt idx="2">
                  <c:v>4400</c:v>
                </c:pt>
                <c:pt idx="3">
                  <c:v>4400</c:v>
                </c:pt>
                <c:pt idx="4">
                  <c:v>4400</c:v>
                </c:pt>
                <c:pt idx="5">
                  <c:v>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6-6C4E-A1A5-4E4406E85D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8000</c:v>
                </c:pt>
                <c:pt idx="3">
                  <c:v>12200</c:v>
                </c:pt>
                <c:pt idx="4">
                  <c:v>23400</c:v>
                </c:pt>
                <c:pt idx="5">
                  <c:v>38100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6-6C4E-A1A5-4E4406E85D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operating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15401</c:v>
                </c:pt>
                <c:pt idx="1">
                  <c:v>3350</c:v>
                </c:pt>
                <c:pt idx="2">
                  <c:v>7348</c:v>
                </c:pt>
                <c:pt idx="3">
                  <c:v>11113</c:v>
                </c:pt>
                <c:pt idx="4">
                  <c:v>20588</c:v>
                </c:pt>
                <c:pt idx="5">
                  <c:v>28099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66-6C4E-A1A5-4E4406E85D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1980</c:v>
                </c:pt>
                <c:pt idx="1">
                  <c:v>775</c:v>
                </c:pt>
                <c:pt idx="2">
                  <c:v>1975</c:v>
                </c:pt>
                <c:pt idx="3">
                  <c:v>2771</c:v>
                </c:pt>
                <c:pt idx="4">
                  <c:v>4839</c:v>
                </c:pt>
                <c:pt idx="5">
                  <c:v>7060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66-6C4E-A1A5-4E4406E85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7659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F172A"/>
                </a:solidFill>
                <a:latin typeface="+mn-lt"/>
              </a:rPr>
              <a:t>Active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Beta</c:v>
                </c:pt>
                <c:pt idx="1">
                  <c:v>Month 12</c:v>
                </c:pt>
                <c:pt idx="2">
                  <c:v>Year 1</c:v>
                </c:pt>
                <c:pt idx="3">
                  <c:v>Year 2</c:v>
                </c:pt>
                <c:pt idx="4">
                  <c:v>Year 3</c:v>
                </c:pt>
                <c:pt idx="5">
                  <c:v>Year 4</c:v>
                </c:pt>
                <c:pt idx="6">
                  <c:v>Year 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2000</c:v>
                </c:pt>
                <c:pt idx="1">
                  <c:v>12530</c:v>
                </c:pt>
                <c:pt idx="2">
                  <c:v>27990</c:v>
                </c:pt>
                <c:pt idx="3">
                  <c:v>67890</c:v>
                </c:pt>
                <c:pt idx="4">
                  <c:v>115870</c:v>
                </c:pt>
                <c:pt idx="5">
                  <c:v>162550</c:v>
                </c:pt>
                <c:pt idx="6">
                  <c:v>202900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8E-EF4C-965D-1B2C2F94AE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rgbClr val="FD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bg>
      <p:bgPr>
        <a:solidFill>
          <a:srgbClr val="E05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PathaSathi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6-month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launch plan</a:t>
            </a: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2D3C8"/>
                </a:solidFill>
              </a:rPr>
              <a:t>A 5-person tech team in Dhaka, a staged business and operations team in New York, and the monthly cost of each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76036" y="15469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D3C8"/>
                </a:solidFill>
              </a:rPr>
              <a:t>Team size by month: 5 people at kickoff, 15 by Month 6</a:t>
            </a:r>
            <a:endParaRPr lang="en-US" sz="1400" dirty="0"/>
          </a:p>
        </p:txBody>
      </p:sp>
      <p:graphicFrame>
        <p:nvGraphicFramePr>
          <p:cNvPr id="6" name="Team size chart"/>
          <p:cNvGraphicFramePr/>
          <p:nvPr/>
        </p:nvGraphicFramePr>
        <p:xfrm>
          <a:off x="6766560" y="278892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Budget card"/>
          <p:cNvSpPr/>
          <p:nvPr/>
        </p:nvSpPr>
        <p:spPr>
          <a:xfrm>
            <a:off x="822960" y="1828800"/>
            <a:ext cx="4069080" cy="3172968"/>
          </a:xfrm>
          <a:prstGeom prst="roundRect">
            <a:avLst>
              <a:gd name="adj" fmla="val 23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SIX-MONTH BUDGET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$213.4K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4069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DDD5"/>
                </a:solidFill>
              </a:rPr>
              <a:t>All-in, including 10% contingency. Average $35.6K per month, peaking at $77.7K in Month 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people in the Dhaka tech team, Project Manager included, fixed for all six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5048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85048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613648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New York hires by Month 6: operations, finance, sales, support and field staff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3502152"/>
            <a:ext cx="6254496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20640" y="3749040"/>
            <a:ext cx="6254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$80K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389120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monthly run-rate from Month 7 with a team of 15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6144999" cy="749808"/>
          </a:xfrm>
          <a:prstGeom prst="roundRect">
            <a:avLst>
              <a:gd name="adj" fmla="val 9756"/>
            </a:avLst>
          </a:prstGeom>
          <a:solidFill>
            <a:srgbClr val="FEE7DF"/>
          </a:solidFill>
          <a:ln w="9525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78992" y="5257800"/>
            <a:ext cx="57500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Pilot target  </a:t>
            </a:r>
            <a:r>
              <a:rPr lang="en-US" sz="1600" dirty="0">
                <a:solidFill>
                  <a:schemeClr val="tx1"/>
                </a:solidFill>
              </a:rPr>
              <a:t>150–200 merchants serving 1,500–2,000 customers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Operating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Dhaka: tech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Project management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Backend development :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Frontend and mobile app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QA, DevOps and cloud :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5 people : $26,400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6248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30568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New York: business and ops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Operations : Operations Manager (leads New York)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Finance : Finance and Compliance (part-time)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Growth : 3 Sales Executives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Merchant success : support agents, field officers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Service data : Sales Executives, on contract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Advisory : US legal and fintech retainer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10 people : $81,700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30568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24728" y="3474720"/>
            <a:ext cx="54864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24728" y="3931920"/>
            <a:ext cx="548640" cy="292608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Build roadmap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820156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31152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2148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53144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6414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224028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  Discovery, DB schema and UX spec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633472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26334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  Multi-tenant backend and auth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02666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   Core engine: directory, map,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60120" y="341985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  Marketplace: catalogue, cart, checkout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13048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" y="381304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  Stripe payments, maps and courier APIs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60120" y="420624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   AI assistant, notifications, marketing hub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599432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459943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   QA and beta: 150–200 merchants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992624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60120" y="499262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  Launch: onboard 1,500–2,000 customers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709160" y="228600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78311" y="267919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78311" y="267919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47462" y="3072384"/>
            <a:ext cx="1025535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47462" y="3072384"/>
            <a:ext cx="1025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wks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72997" y="3465576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72997" y="3465576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2148" y="3858768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8042148" y="3858768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811299" y="425196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811299" y="425196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495844" y="464515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495844" y="464515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 wks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862369" y="5038344"/>
            <a:ext cx="512767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862369" y="5038344"/>
            <a:ext cx="51276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 wks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Staged hiring gates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Kickoff · Day 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Funding in place and US company (Delaware C-corp, NY registration) set 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2880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1 hires. Dhaka: the full team of 5. No New York hires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532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G1 · end of M1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32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Discovery done: database schema and UX spec signed off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53288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Founders build the merchant, partner and community pipeline.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36976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23697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G2 · end of M2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369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Multi-tenant backend and auth demoed end to 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36976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3 hires. Operations Manager, Finance (part-time).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05840" y="394106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G3 · end of M3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94106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Directory, map and marketplace working in staging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41064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4 hires. First Sales Executive; service data contract starts.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645152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05840" y="4645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G4 · end of M4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6451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Stripe, maps and courier sandboxes passing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5152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5 hires. 2 support agents, 2nd Sales Executive.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34924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0584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G5 · end of M5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349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Beta live: 150–200 merchants, 1,500–2,000 customers, 5 service directories filled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4924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6 hires. 3rd Sales Executive,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Headcount by month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47472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8288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Total people at the end of each bar · who joins, at far right</a:t>
            </a:r>
            <a:endParaRPr lang="en-US" sz="1400" dirty="0"/>
          </a:p>
        </p:txBody>
      </p:sp>
      <p:graphicFrame>
        <p:nvGraphicFramePr>
          <p:cNvPr id="8" name="Headcount chart"/>
          <p:cNvGraphicFramePr/>
          <p:nvPr/>
        </p:nvGraphicFramePr>
        <p:xfrm>
          <a:off x="1874520" y="2286000"/>
          <a:ext cx="2743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" y="2286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286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Dhaka </a:t>
            </a:r>
            <a:r>
              <a:rPr lang="en-US" sz="1400" dirty="0">
                <a:solidFill>
                  <a:schemeClr val="tx1"/>
                </a:solidFill>
              </a:rPr>
              <a:t>Full team of 5. No New York hires yet.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880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803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Dhaka stays at 5.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3474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Operations Manager, Finance (part-time).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0690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4069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4069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First Sales Executive; service data contract starts.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4663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11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46634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2 support agents, 2nd Sales Executive.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257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6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5257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15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3rd Sales Executive,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5 people by function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20112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BDT/m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Person-months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people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salary cost by function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30428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tech salaries (US$)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323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basis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headcount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team: monthly cost by role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32304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New York team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Service data collection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at launch, collected by Sales Executives on contract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$1,000 per service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one-time contract fee, about 150 verified listings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526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$5,000 before beta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then $500–$1,500 a month, only when needed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0624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Months 4–5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 launch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Housing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food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aid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Hospitals and clinics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65392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8272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748272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When needed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Next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Pharmacy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Embassy and consulate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Halal food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Grocery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Education and ESL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Transit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Religion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Social aid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07424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90304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90304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When needed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Later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medicine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Money exchange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Travel and flights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Cars and auto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Electronics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Furniture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Gas and EV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Sports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Other operating costs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53826"/>
              </p:ext>
            </p:extLst>
          </p:nvPr>
        </p:nvGraphicFramePr>
        <p:xfrm>
          <a:off x="822960" y="1828800"/>
          <a:ext cx="10552176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hosting and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with merchants: $300 in M1 to $2,500 in M6 (hosting, maps, AI)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tools: AI, design,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$300/mo: AI tools $120, Figma $45, BrowserStack $50, GitHub/Jira/Slack $85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data collection (contract)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 per service paid to Sales Executives: 2 services in M4, 3 in M5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 per person per month: desk and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 co-working (Queens)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 per desk per month for full- and part-time office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Go-to-market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Ads, SMS, merchant demos and community events from M4: $1,500 to $6,500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and fintech advisory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$2,000/mo US counsel retainer plus $5,000 company set-up in 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insurance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liability and cyber cover, $400 per 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transit (OMNY)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 per month for sales and field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Computers and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MacBooks, 5 laptops, 5 tablets, 5 printers, 2 phones, 3 headsets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Dhaka–New York travel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trips at $3,000: discovery in M1 and launch in M6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payroll taxes (10%)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FICA, unemployment insurance and workers' comp on US wages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stipend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 per month for each full-time US employee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operating costs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85,899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Computers and devices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computers: 3 MacBook Air in Dhaka, 5 office laptops in New York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US$1,065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per computer: MacBook Air US$1,341, New York laptop US$899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US$10,299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devices, one-time, bought only when each person joins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10552176" cy="248716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MacBook Air M3 (16GB, 1TB)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developers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test phone (Galaxy A06)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QA testing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laptop (i5, 16GB, 512GB)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operations, finance, 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M3, 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tablet (Galaxy Tab A9+)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Sales, 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Bluetooth receipt printer (58mm)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demo kits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headset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Monthly spend and cumulative budget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24612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9496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4380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graphicFrame>
        <p:nvGraphicFramePr>
          <p:cNvPr id="11" name="Monthly spend chart"/>
          <p:cNvGraphicFramePr/>
          <p:nvPr/>
        </p:nvGraphicFramePr>
        <p:xfrm>
          <a:off x="1874520" y="2331720"/>
          <a:ext cx="53949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22960" y="2331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1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331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$21.8K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331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$21.8K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903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2903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$8.5K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2903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$30.3K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474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474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$21.7K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3474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$52.0K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046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4046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$30.5K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4046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$82.5K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617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4617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$53.2K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823960" y="4617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$135.7K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189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6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5189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$77.7K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5189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$213.4K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Where the money goes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305430" cy="6035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305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12.4%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28390" y="1828800"/>
            <a:ext cx="4039910" cy="6035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28390" y="1828800"/>
            <a:ext cx="40399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38.3%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68300" y="1828800"/>
            <a:ext cx="4247543" cy="6035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168300" y="1828800"/>
            <a:ext cx="42475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40.3%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15843" y="1828800"/>
            <a:ext cx="959293" cy="6035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415843" y="1828800"/>
            <a:ext cx="95929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9.1%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Dhaka tech salaries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$26,400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people × 6 months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9584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986784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$81,700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21 person-months; service data on contract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6208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37376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93408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$85,899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Payroll taxes, devices, legal, office, transit, cloud, marketing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42832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400032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$19,400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10% of all costs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Scenarios and sensitivity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Hybrid lean base: this plan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Dhaka tech + New York business and ops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1874520"/>
            <a:ext cx="1917439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74920" y="1874520"/>
            <a:ext cx="1917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$213K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Premium talent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72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+40% Dhaka salaries and +25% New York pay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2770632"/>
            <a:ext cx="2243872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2770632"/>
            <a:ext cx="224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$250K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210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Dedicated data team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21 part-time associates, one per service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3666744"/>
            <a:ext cx="3200305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74920" y="3666744"/>
            <a:ext cx="3200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$356K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17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All-US engineering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New York engineers at about $150K a year each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4562856"/>
            <a:ext cx="585216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74920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$651K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</a:rPr>
              <a:t>FUNDING REQUIREMENT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tx1"/>
                </a:solidFill>
              </a:rPr>
              <a:t>$454K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completes the six-month build and funds Months 7–9 at the launch run-rate, with no revenue assumed.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0" y="2743200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532120" y="2743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7432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$213.4K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7432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complete, 15 people, beta live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3502152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532120" y="35021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50215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$454K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021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Three months of runway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4261104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42611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12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2611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$695K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26110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Six months of runway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PathaSathi business model</a:t>
            </a:r>
            <a:endParaRPr lang="en-US" sz="4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16093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0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merchant gets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listing, basic catalogue, 1 user, with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catalogue and orders, verified badge, customer SMS reminders, reports,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Multi-staff, online storefront and delivery, marketing hub, AI advice, priority listing,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1560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Payment commission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0.5% on online payments via Stripe Connect split payments, on top of Stripe's own fee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1792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660392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SMS credits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660392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Bulk SMS resold with a small margin, about US$1.50 per paid merchant per month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0624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69224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69224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Banner ads for customers and free-plan merchants only, never at checkout: about US$0.08 per active customer a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How merchants get onboarded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75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 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 and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10-minute demo on the merchant's phone, in the shop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5097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417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191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6509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15650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370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Same day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5650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 sign-up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5650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 signs up with a phone number and a map pin on the Free plan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1993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11993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23130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0874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25466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2546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82666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Days 1–3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25466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Shop set-up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25466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Products added by barcode or AI photo scan, plus prices, delivery zones and Stripe payouts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88890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288890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9208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2983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442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49442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95162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First 30 days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442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Training and check-ins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49442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Training in Bangla or English, check-ins in weeks 1 and 3; each merchant invites first 10 customers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5784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45784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Support Agent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6104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49878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663379" y="201168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66337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12057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Month 1–2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66337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Upgrade to paid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66337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the merchant needs a verified badge, SMS reminders or an online store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62680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62680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$19 or $49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138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Year 1 funnel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51460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267919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3,795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374904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join and upgrade to paid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25780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3212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569671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2,799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676656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still paying at year end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27532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4964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871423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27,990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978408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active customers (10 per merchant)</a:t>
            </a:r>
            <a:endParaRPr lang="en-US" sz="13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After launch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Months 5–6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150–200 beta merchants in Queens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1,500–2,000 customers, 10 per merchant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Jackson Heights, Jamaica, Ozone Park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 bugs from feedback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200 ready to pay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2,000 customers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8726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330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618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72618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2618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New York City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2618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Door-to-door merchant sales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Brooklyn and Bronx (Parkchester)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Bangla media, Facebook, TikTok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Referral: 1 free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2618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72618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2,799 paid merchants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2618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27,990 customers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0760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4652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NJ and Michigan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Paterson, New Jersey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Detroit and Hamtramck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Mosque and community partners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WhatsApp broadcasts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4652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6,789 paid merchants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67,890 customers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2794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8398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6686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16686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Years 3–5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6686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Nationwide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6686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Atlanta, Texas, California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Other South Asian communities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Brand-sponsored ads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Annual plans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6686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16686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20,290 paid merchants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16686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202,900 customers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Merchant and customer growth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 : 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880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active merchant serves about ten active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Beta  </a:t>
            </a:r>
            <a:r>
              <a:rPr lang="en-US" sz="1400" dirty="0">
                <a:solidFill>
                  <a:schemeClr val="tx1"/>
                </a:solidFill>
              </a:rPr>
              <a:t>150–200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1,500–2,000 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846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Year 5  </a:t>
            </a:r>
            <a:r>
              <a:rPr lang="en-US" sz="1400" dirty="0">
                <a:solidFill>
                  <a:schemeClr val="tx1"/>
                </a:solidFill>
              </a:rPr>
              <a:t>20,290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202,900 customers</a:t>
            </a:r>
            <a:endParaRPr lang="en-US" sz="1400" dirty="0"/>
          </a:p>
        </p:txBody>
      </p:sp>
      <p:graphicFrame>
        <p:nvGraphicFramePr>
          <p:cNvPr id="10" name="Customer growth chart"/>
          <p:cNvGraphicFramePr/>
          <p:nvPr/>
        </p:nvGraphicFramePr>
        <p:xfrm>
          <a:off x="3977640" y="1783080"/>
          <a:ext cx="7397496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4617720"/>
          <a:ext cx="7397496" cy="109728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150–200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1,500–2,000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First 6 months of revenue</a:t>
            </a:r>
            <a:endParaRPr lang="en-US" sz="4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3127248"/>
        </p:xfrm>
        <a:graphic>
          <a:graphicData uri="http://schemas.openxmlformats.org/drawingml/2006/table">
            <a:tbl>
              <a:tblPr/>
              <a:tblGrid>
                <a:gridCol w="117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+ SMS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(US$)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−72,778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−65,783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−58,712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−51,527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−44,186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−36,649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127,151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492,559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−329,635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Five years revenue</a:t>
            </a:r>
            <a:endParaRPr lang="en-US" sz="4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773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paid merchants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Avg/month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49,816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196,149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363,843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137,530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541,523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178,594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471,965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B</a:t>
            </a:r>
            <a:r>
              <a:rPr lang="en-US" sz="4000" b="1" dirty="0">
                <a:solidFill>
                  <a:schemeClr val="tx1"/>
                </a:solidFill>
              </a:rPr>
              <a:t>reak-even point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US$80,338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cost in launch month: team of 15 plus operating costs, rising as merchants grow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US$37.80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monthly revenue per paid merchant, incl. US$0.80 from 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~2,799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paid merchants (~27,990 customers) when revenue first covers costs, Month 12 after launch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11880"/>
          <a:ext cx="10552176" cy="1152144"/>
        </p:xfrm>
        <a:graphic>
          <a:graphicData uri="http://schemas.openxmlformats.org/drawingml/2006/table">
            <a:tbl>
              <a:tblPr/>
              <a:tblGrid>
                <a:gridCol w="488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break-even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5-year 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case (this forecast)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US$22.3M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(half the merchant growth)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US$11.2M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Profit or loss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+US$9.38M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cumulative profit after 5½ years, growth case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Month 12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after launch: first month revenue covers costs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−US$0.66M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lowest cumulative point, Month 13 after launch: the funding needed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52176" cy="2779776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/ loss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growth is half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−213,399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1,068,029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−424,447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−637,846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−842,457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1,792,174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561,614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−76,232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−905,543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2,565,073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1,801,039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1,724,807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−344,004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3,360,546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3,137,727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4,862,534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851,428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3,925,644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4,512,929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9,375,463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2,706,026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12,924,865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9,375,463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2,706,026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                  Thank </a:t>
            </a:r>
            <a:r>
              <a:rPr lang="en-US" sz="5400" b="1" dirty="0">
                <a:solidFill>
                  <a:schemeClr val="accent1"/>
                </a:solidFill>
              </a:rPr>
              <a:t>you</a:t>
            </a:r>
            <a:endParaRPr lang="en-US" sz="5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at a glance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22960" y="1828800"/>
            <a:ext cx="10552176" cy="566928"/>
          </a:xfrm>
          <a:prstGeom prst="roundRect">
            <a:avLst>
              <a:gd name="adj" fmla="val 12903"/>
            </a:avLst>
          </a:prstGeom>
          <a:solidFill>
            <a:srgbClr val="FEE7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1828800"/>
            <a:ext cx="1000353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C04A22"/>
                </a:solidFill>
              </a:rPr>
              <a:t>Month 1 goal  </a:t>
            </a:r>
            <a:r>
              <a:rPr sz="1500" b="0">
                <a:solidFill>
                  <a:srgbClr val="0F172A"/>
                </a:solidFill>
              </a:rPr>
              <a:t>Gate G1: database schema and UX spec signed off, company set up, login build started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606040"/>
            <a:ext cx="2432303" cy="347472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5840" y="2788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278892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C04A22"/>
                </a:solidFill>
              </a:rPr>
              <a:t>Week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200400"/>
            <a:ext cx="206654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Kickoff and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721608"/>
            <a:ext cx="211226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Founder in Dhaka for kickoff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Tools and access set up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Audit of the React prototype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Delaware C-corp filed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5840" y="5349240"/>
            <a:ext cx="2066543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" y="5440680"/>
            <a:ext cx="2066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Outcome: </a:t>
            </a:r>
            <a:r>
              <a:rPr sz="1300" b="0">
                <a:solidFill>
                  <a:srgbClr val="0F172A"/>
                </a:solidFill>
              </a:rPr>
              <a:t>Audit report and risk list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9583" y="2606040"/>
            <a:ext cx="2432303" cy="347472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712463" y="2788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12463" y="278892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C04A22"/>
                </a:solidFill>
              </a:rPr>
              <a:t>Week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2463" y="3200400"/>
            <a:ext cx="206654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Requirements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3721608"/>
            <a:ext cx="211226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PRD v1 and user journeys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Database model (ERD) v1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UX designer starts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First 15 merchant interviews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12463" y="5349240"/>
            <a:ext cx="2066544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12463" y="5440680"/>
            <a:ext cx="2066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Outcome: </a:t>
            </a:r>
            <a:r>
              <a:rPr sz="1300" b="0">
                <a:solidFill>
                  <a:srgbClr val="0F172A"/>
                </a:solidFill>
              </a:rPr>
              <a:t>PRD and ERD v1 reviewed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7" y="2606040"/>
            <a:ext cx="2432303" cy="347472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19088" y="2788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278892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C04A22"/>
                </a:solidFill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3200400"/>
            <a:ext cx="206654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Design and set-up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721608"/>
            <a:ext cx="211226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API contract (OpenAPI) final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CI/CD, dev and staging live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Exposed API keys rotated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30 interviews, 5 services chosen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19088" y="5349240"/>
            <a:ext cx="2066544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19088" y="5440680"/>
            <a:ext cx="2066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Outcome: </a:t>
            </a:r>
            <a:r>
              <a:rPr sz="1300" b="0">
                <a:solidFill>
                  <a:srgbClr val="0F172A"/>
                </a:solidFill>
              </a:rPr>
              <a:t>Schema and API signed off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42832" y="2606040"/>
            <a:ext cx="2432303" cy="3474720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125711" y="27889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1" y="278892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8C3015"/>
                </a:solidFill>
              </a:rPr>
              <a:t>Week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1" y="3200400"/>
            <a:ext cx="2066543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Build starts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1" y="3721608"/>
            <a:ext cx="2112263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Backend skeleton and migrations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Phone OTP login and roles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App shell wired to the API</a:t>
            </a:r>
          </a:p>
          <a:p>
            <a:pPr marL="182880" indent="-182880" algn="l">
              <a:spcBef>
                <a:spcPts val="500"/>
              </a:spcBef>
              <a:buFont typeface="Arial"/>
              <a:buChar char="•"/>
            </a:pPr>
            <a:r>
              <a:rPr sz="1300" b="0">
                <a:solidFill>
                  <a:srgbClr val="0F172A"/>
                </a:solidFill>
              </a:rPr>
              <a:t>25 UX screens signed off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125711" y="5349240"/>
            <a:ext cx="2066545" cy="0"/>
          </a:xfrm>
          <a:prstGeom prst="line">
            <a:avLst/>
          </a:prstGeom>
          <a:ln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25711" y="5440680"/>
            <a:ext cx="20665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Outcome: </a:t>
            </a:r>
            <a:r>
              <a:rPr sz="1300" b="0">
                <a:solidFill>
                  <a:srgbClr val="0F172A"/>
                </a:solidFill>
              </a:rPr>
              <a:t>Gate G1 passed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daily and weekly rhythm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22960" y="1828800"/>
            <a:ext cx="5138927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2057400"/>
            <a:ext cx="459028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Every day (Dhaka, Sunday–Thursday)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517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10:00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6517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15-minute stand-up: yesterday, today, blockers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1089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10:15–13:00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1089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Focus block 1, no meetings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5661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14:00–17:00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5661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Focus block 2; code reviews done by 17:00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0233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17:30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0233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Code pushed; staging deploys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4805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19:30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4805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30-minute sync with founders (9:30 am New York, Mon–Thu)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9377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End of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9377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Jira updated; blockers posted in Slack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7" y="1828800"/>
            <a:ext cx="5138927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0527" y="2057400"/>
            <a:ext cx="4590288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Every week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7" y="26517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Sunday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26517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Sprint planning (1 hour): pick the week's tickets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7" y="31089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Monday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90688" y="31089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Founders share merchant interview insights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0527" y="35661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Wednesday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0688" y="35661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Design review with the UX designer; architecture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7" y="40233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Thursday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40233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Demo on staging, retro, weekly report to founders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7" y="44805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Friday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44805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Dhaka weekend; New York merchant interviews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7" y="49377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Saturday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0688" y="4937760"/>
            <a:ext cx="3310127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Dhaka weekend; founders set next week's priorities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5623560"/>
            <a:ext cx="10552176" cy="502920"/>
          </a:xfrm>
          <a:prstGeom prst="roundRect">
            <a:avLst>
              <a:gd name="adj" fmla="val 14545"/>
            </a:avLst>
          </a:prstGeom>
          <a:solidFill>
            <a:srgbClr val="FEE7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97280" y="5623560"/>
            <a:ext cx="100035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Time zones  </a:t>
            </a:r>
            <a:r>
              <a:rPr sz="1300" b="0">
                <a:solidFill>
                  <a:srgbClr val="0F172A"/>
                </a:solidFill>
              </a:rPr>
              <a:t>Dhaka is 10 hours ahead of New York (11 in winter). The daily sync uses the overlap: 7:30 pm Dhaka, 9:30 am New York.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day by day, weeks 1 and 2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828800"/>
          <a:ext cx="10552176" cy="412394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Day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Dhaka tech team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Founders and New York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 · Sun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Kickoff with founder: goals, roles, Gate G1 checklist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Founder in Dhaka; file Delaware C-corp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2 · Mon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Tools set up: Jira, GitHub, Slack, Figma, cloud access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Brief US lawyer; registered agent set up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3 · Tue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Audit the React prototype: what to keep, what to rebuild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Write merchant interview script (15 questions)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4 · Wed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Security plan: rotate BariKoi key, AI key to server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Pick UX designer; sign contract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5 · Thu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Demo: audit report, tech stack, risk list; retro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Founder flies back; hire 2 interview students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6 · Sun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Sprint planning; PRD outline, user roles and journeys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Interviews start: 5 shops in Jackson Heights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7 · Mon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 model workshop: merchants, stores, products, orders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Apply for EIN; open US bank account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8 · Tue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Database model (ERD) v1 in PostgreSQL + PostGIS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5 more interviews in Jamaica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9 · Wed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UX kickoff with designer; brand design tokens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Design call: share merchant pain points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10 · Thu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Demo: PRD v1, ERD v1, design brief; retro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Interview summary: top 10 merchant needs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6062472"/>
            <a:ext cx="10552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Dhaka works Sunday–Thursday; New York works Monday–Friday.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day by day, weeks 3 and 4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828800"/>
          <a:ext cx="10552176" cy="412394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Day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Dhaka tech team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Founders and New York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11 · Sun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PRD v2 with merchant feedback; MVP scope frozen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Choose first 5 services for data collection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12 · Mon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API contract (OpenAPI) v1; multi-tenant design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File NY registration; apply for Stripe account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13 · Tue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CI/CD, Docker and dev environment live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10 more interviews in Ozone Park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14 · Wed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Staging live; secrets manager; keys rotated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Design review: first 15 screens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15 · Thu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Demo: ERD and API final sign-off; retro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30 interviews done; insight report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16 · Sun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Sprint 1 planning: backend skeleton and login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Start search for Operations Manager (joins M3)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17 · Mon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 skeleton: structure, migrations, seed data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Outreach: 3 mosques, 2 community groups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18 · Tue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Login service: phone OTP (Twilio Verify), JWT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Bookkeeping and payroll set up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19 · Wed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Roles (merchant, customer, admin); app shell on API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All 25 UX screens delivered and signed off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Day 20 · Thu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Gate G1 review: sign-off, Month 2 sprint plan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Founders sign Gate G1; Month 2 released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22960" y="6062472"/>
            <a:ext cx="10552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Dhaka works Sunday–Thursday; New York works Monday–Friday.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who builds what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828800"/>
          <a:ext cx="10552176" cy="396849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Modules in Month 1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Delivered by Day 20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Project Manager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PRD, user journeys, Jira backlog, sprint plans, Gate G1 checklist; runs designer and founder syncs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Signed-off PRD; Month 2 sprint plan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Backend Developer 1 (lead)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Architecture, PostgreSQL + PostGIS schema, multi-tenant model, OpenAPI contract; Week 4: login service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Signed-off ERD and API; OTP login on staging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Backend Developer 2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Seed data from the prototype, geo search for the directory, Stripe, Mapbox, Twilio and AI spikes; Week 4: merchant APIs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Spike reports; merchant and store APIs started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Frontend and mobile Developer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Prototype audit, split oversized pages, brand design tokens, component library, API client; Week 4: login screens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 shell with login on staging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QA, DevOps and Cloud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GitHub, CI/CD, Docker, dev and staging, secrets manager, rotate exposed keys; MVP test plan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Staging live; test plan v1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UX/UI designer (outsourced)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Design system and 25 key screens from the Figma prototype, in brand colours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25 screens signed off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outsourcing and cost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22960" y="1828800"/>
            <a:ext cx="3334512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1965960"/>
            <a:ext cx="28773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C04A22"/>
                </a:solidFill>
              </a:rPr>
              <a:t>$3,420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2514600"/>
            <a:ext cx="2877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new outsourcing in Month 1, paid from the 10% contingency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1792" y="1828800"/>
            <a:ext cx="3334512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0392" y="1965960"/>
            <a:ext cx="28773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C04A22"/>
                </a:solidFill>
              </a:rPr>
              <a:t>$7,000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0392" y="2514600"/>
            <a:ext cx="2877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legal set-up, already in the Month 1 budget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0624" y="1828800"/>
            <a:ext cx="3334512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69224" y="1965960"/>
            <a:ext cx="28773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C04A22"/>
                </a:solidFill>
              </a:rPr>
              <a:t>$25.2K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9224" y="2514600"/>
            <a:ext cx="2877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total Month 1 spend: $21.8K plan + $3.4K new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22960" y="3246120"/>
          <a:ext cx="10552176" cy="279806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Who and how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Cost (US$)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In budget?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UX/UI design: design system and 25 key screens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Dhaka freelance designer, 80 hours × $25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2,000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New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US company set-up: Delaware C-corp, NY registration, ToS, privacy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US startup law firm: $5,000 set-up + $2,000 retainer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7,000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Tech team contracts in Bangladesh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Dhaka law firm, one time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400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New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Bookkeeping and payroll set-up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US bookkeeping service until Finance joins in Month 3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300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New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Merchant interviews in Queens (30 shops)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2 students × 20 hours × $18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720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F172A"/>
                          </a:solidFill>
                        </a:rPr>
                        <a:t>New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Total outsourcing in Month 1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172A"/>
                          </a:solidFill>
                        </a:rPr>
                        <a:t>10,420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172A"/>
                          </a:solidFill>
                        </a:rPr>
                        <a:t>3,420 new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22960" y="6108192"/>
            <a:ext cx="10552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Not outsourced: all development, QA and DevOps stay with the Dhaka team.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 1 plan: Gate G1 checklist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1828800"/>
          <a:ext cx="10552176" cy="38404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Must be done by the end of Month 1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Day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PRD and MVP scope signed off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PM and founders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11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Delaware C-corp, EIN, bank account and Stripe application done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Founders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12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CI/CD, dev and staging environments live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QA, DevOps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14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Exposed API keys rotated; AI key moved to the server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QA, DevOps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14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Database schema (ERD) signed off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Backend lead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15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6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API contract (OpenAPI) signed off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Backend lead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15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7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30 merchant interviews done; first 5 services confirmed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Founders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15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25 UX screens in brand colours signed off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UX designer and PM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19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9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Phone OTP login working on staging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Backend and frontend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72A"/>
                          </a:solidFill>
                        </a:rPr>
                        <a:t>Day 19</a:t>
                      </a: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22960" y="5806440"/>
            <a:ext cx="10552176" cy="384048"/>
          </a:xfrm>
          <a:prstGeom prst="roundRect">
            <a:avLst>
              <a:gd name="adj" fmla="val 19047"/>
            </a:avLst>
          </a:prstGeom>
          <a:solidFill>
            <a:srgbClr val="FEE7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100035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04A22"/>
                </a:solidFill>
              </a:rPr>
              <a:t>Rule  </a:t>
            </a:r>
            <a:r>
              <a:rPr sz="1300" b="0">
                <a:solidFill>
                  <a:srgbClr val="0F172A"/>
                </a:solidFill>
              </a:rPr>
              <a:t>Month 2 work starts only when all nine items are done; a late item moves the plan, not just one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aSathi Brand">
  <a:themeElements>
    <a:clrScheme name="PathaSathi Brand">
      <a:dk1>
        <a:srgbClr val="0F172A"/>
      </a:dk1>
      <a:lt1>
        <a:srgbClr val="FFFFFF"/>
      </a:lt1>
      <a:dk2>
        <a:srgbClr val="3A1A10"/>
      </a:dk2>
      <a:lt2>
        <a:srgbClr val="FFFAF8"/>
      </a:lt2>
      <a:accent1>
        <a:srgbClr val="E05236"/>
      </a:accent1>
      <a:accent2>
        <a:srgbClr val="F59E0B"/>
      </a:accent2>
      <a:accent3>
        <a:srgbClr val="C04A22"/>
      </a:accent3>
      <a:accent4>
        <a:srgbClr val="F97316"/>
      </a:accent4>
      <a:accent5>
        <a:srgbClr val="94A3B8"/>
      </a:accent5>
      <a:accent6>
        <a:srgbClr val="8C3015"/>
      </a:accent6>
      <a:hlink>
        <a:srgbClr val="C04A22"/>
      </a:hlink>
      <a:folHlink>
        <a:srgbClr val="94A3B8"/>
      </a:folHlink>
    </a:clrScheme>
    <a:fontScheme name="PathaSathi Br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3907</Words>
  <Application>Microsoft Macintosh PowerPoint</Application>
  <PresentationFormat>Widescreen</PresentationFormat>
  <Paragraphs>1115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Arial</vt:lpstr>
      <vt:lpstr>PathaSathi Brand</vt:lpstr>
      <vt:lpstr>PathaSathi 6-month launch plan</vt:lpstr>
      <vt:lpstr>Summary</vt:lpstr>
      <vt:lpstr>Operating model</vt:lpstr>
      <vt:lpstr>Build roadmap</vt:lpstr>
      <vt:lpstr>Staged hiring gates</vt:lpstr>
      <vt:lpstr>Headcount by month</vt:lpstr>
      <vt:lpstr>Dhaka tech team: 5 people by function</vt:lpstr>
      <vt:lpstr>Dhaka tech team: salary cost by function</vt:lpstr>
      <vt:lpstr>New York team</vt:lpstr>
      <vt:lpstr>New York team: monthly cost by role</vt:lpstr>
      <vt:lpstr>Service data collection</vt:lpstr>
      <vt:lpstr>Other operating costs</vt:lpstr>
      <vt:lpstr>Computers and devices</vt:lpstr>
      <vt:lpstr>Monthly spend and cumulative budget</vt:lpstr>
      <vt:lpstr>Where the money goes</vt:lpstr>
      <vt:lpstr>Scenarios and sensitivity</vt:lpstr>
      <vt:lpstr>PowerPoint Presentation</vt:lpstr>
      <vt:lpstr>PathaSathi business model</vt:lpstr>
      <vt:lpstr>How merchants get onboarded</vt:lpstr>
      <vt:lpstr>After launch</vt:lpstr>
      <vt:lpstr>Merchant and customer growth</vt:lpstr>
      <vt:lpstr>First 6 months of revenue</vt:lpstr>
      <vt:lpstr>Five years revenue</vt:lpstr>
      <vt:lpstr>Break-even point</vt:lpstr>
      <vt:lpstr>Profit or loss</vt:lpstr>
      <vt:lpstr>                  Thank you</vt:lpstr>
      <vt:lpstr>Month 1 plan: at a glance</vt:lpstr>
      <vt:lpstr>Month 1 plan: daily and weekly rhythm</vt:lpstr>
      <vt:lpstr>Month 1 plan: day by day, weeks 1 and 2</vt:lpstr>
      <vt:lpstr>Month 1 plan: day by day, weeks 3 and 4</vt:lpstr>
      <vt:lpstr>Month 1 plan: who builds what</vt:lpstr>
      <vt:lpstr>Month 1 plan: outsourcing and cost</vt:lpstr>
      <vt:lpstr>Month 1 plan: Gate G1 checklist</vt:lpstr>
    </vt:vector>
  </TitlesOfParts>
  <Company>PathaSathi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PathaSathi 6-month launch plan</dc:title>
  <dc:subject>PptxGenJS Presentation</dc:subject>
  <dc:creator>PathaSathi</dc:creator>
  <cp:lastModifiedBy>Zotish</cp:lastModifiedBy>
  <cp:revision>6</cp:revision>
  <dcterms:created xsi:type="dcterms:W3CDTF">2026-10-10T13:40:37Z</dcterms:created>
  <dcterms:modified xsi:type="dcterms:W3CDTF">2026-10-14T09:12:40Z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2026-10-10T16:48:38Z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93bc23e1-20f4-4652-8c77-e6af90e8526f</vt:lpwstr>
  </property>
  <property fmtid="{D5CDD505-2E9C-101B-9397-08002B2CF9AE}" pid="7" name="MSIP_Label_defa4170-0d19-0005-0004-bc88714345d2_ActionId">
    <vt:lpwstr>86c9b632-ec91-4089-ba32-03af7f0ddabe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